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ntro Rust" charset="1" panose="00000500000000000000"/>
      <p:regular r:id="rId18"/>
    </p:embeddedFont>
    <p:embeddedFont>
      <p:font typeface="Nunito" charset="1" panose="00000000000000000000"/>
      <p:regular r:id="rId19"/>
    </p:embeddedFont>
    <p:embeddedFont>
      <p:font typeface="Open Sans Bold" charset="1" panose="020B0806030504020204"/>
      <p:regular r:id="rId20"/>
    </p:embeddedFont>
    <p:embeddedFont>
      <p:font typeface="Nunito Bold" charset="1" panose="00000000000000000000"/>
      <p:regular r:id="rId21"/>
    </p:embeddedFont>
    <p:embeddedFont>
      <p:font typeface="Open Sans" charset="1" panose="020B060603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https://doi.org/10.1371/journal.pcbi.1008935" TargetMode="External" Type="http://schemas.openxmlformats.org/officeDocument/2006/relationships/hyperlink"/><Relationship Id="rId2" Target="../media/image6.png" Type="http://schemas.openxmlformats.org/officeDocument/2006/relationships/image"/><Relationship Id="rId3" Target="http://arxiv.org/abs/2410.17725" TargetMode="External" Type="http://schemas.openxmlformats.org/officeDocument/2006/relationships/hyperlink"/><Relationship Id="rId4" Target="http://arxiv.org/abs/2410.17725" TargetMode="External" Type="http://schemas.openxmlformats.org/officeDocument/2006/relationships/hyperlink"/><Relationship Id="rId5" Target="https://doi.org/10.1145/2207676.2208639" TargetMode="External" Type="http://schemas.openxmlformats.org/officeDocument/2006/relationships/hyperlink"/><Relationship Id="rId6" Target="https://doi.org/10.1145/2207676.2208639" TargetMode="External" Type="http://schemas.openxmlformats.org/officeDocument/2006/relationships/hyperlink"/><Relationship Id="rId7" Target="https://doi.org/10.3390/sports11020162" TargetMode="External" Type="http://schemas.openxmlformats.org/officeDocument/2006/relationships/hyperlink"/><Relationship Id="rId8" Target="https://arxiv.org/abs/2110.06864" TargetMode="External" Type="http://schemas.openxmlformats.org/officeDocument/2006/relationships/hyperlink"/><Relationship Id="rId9" Target="https://arxiv.org/abs/2204.06806"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2" Target="../media/image6.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media/image3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C0A71"/>
        </a:solidFill>
      </p:bgPr>
    </p:bg>
    <p:spTree>
      <p:nvGrpSpPr>
        <p:cNvPr id="1" name=""/>
        <p:cNvGrpSpPr/>
        <p:nvPr/>
      </p:nvGrpSpPr>
      <p:grpSpPr>
        <a:xfrm>
          <a:off x="0" y="0"/>
          <a:ext cx="0" cy="0"/>
          <a:chOff x="0" y="0"/>
          <a:chExt cx="0" cy="0"/>
        </a:xfrm>
      </p:grpSpPr>
      <p:sp>
        <p:nvSpPr>
          <p:cNvPr name="Freeform 2" id="2"/>
          <p:cNvSpPr/>
          <p:nvPr/>
        </p:nvSpPr>
        <p:spPr>
          <a:xfrm flipH="false" flipV="false" rot="0">
            <a:off x="14382324" y="1028700"/>
            <a:ext cx="2713970" cy="2843618"/>
          </a:xfrm>
          <a:custGeom>
            <a:avLst/>
            <a:gdLst/>
            <a:ahLst/>
            <a:cxnLst/>
            <a:rect r="r" b="b" t="t" l="l"/>
            <a:pathLst>
              <a:path h="2843618" w="2713970">
                <a:moveTo>
                  <a:pt x="0" y="0"/>
                </a:moveTo>
                <a:lnTo>
                  <a:pt x="2713970" y="0"/>
                </a:lnTo>
                <a:lnTo>
                  <a:pt x="2713970" y="2843618"/>
                </a:lnTo>
                <a:lnTo>
                  <a:pt x="0" y="2843618"/>
                </a:lnTo>
                <a:lnTo>
                  <a:pt x="0" y="0"/>
                </a:lnTo>
                <a:close/>
              </a:path>
            </a:pathLst>
          </a:custGeom>
          <a:blipFill>
            <a:blip r:embed="rId2"/>
            <a:stretch>
              <a:fillRect l="0" t="0" r="0" b="0"/>
            </a:stretch>
          </a:blipFill>
        </p:spPr>
      </p:sp>
      <p:sp>
        <p:nvSpPr>
          <p:cNvPr name="Freeform 3" id="3"/>
          <p:cNvSpPr/>
          <p:nvPr/>
        </p:nvSpPr>
        <p:spPr>
          <a:xfrm flipH="false" flipV="false" rot="0">
            <a:off x="13530388" y="3172216"/>
            <a:ext cx="1223854" cy="1223854"/>
          </a:xfrm>
          <a:custGeom>
            <a:avLst/>
            <a:gdLst/>
            <a:ahLst/>
            <a:cxnLst/>
            <a:rect r="r" b="b" t="t" l="l"/>
            <a:pathLst>
              <a:path h="1223854" w="1223854">
                <a:moveTo>
                  <a:pt x="0" y="0"/>
                </a:moveTo>
                <a:lnTo>
                  <a:pt x="1223854" y="0"/>
                </a:lnTo>
                <a:lnTo>
                  <a:pt x="1223854" y="1223854"/>
                </a:lnTo>
                <a:lnTo>
                  <a:pt x="0" y="1223854"/>
                </a:lnTo>
                <a:lnTo>
                  <a:pt x="0" y="0"/>
                </a:lnTo>
                <a:close/>
              </a:path>
            </a:pathLst>
          </a:custGeom>
          <a:blipFill>
            <a:blip r:embed="rId3"/>
            <a:stretch>
              <a:fillRect l="0" t="0" r="0" b="0"/>
            </a:stretch>
          </a:blipFill>
        </p:spPr>
      </p:sp>
      <p:sp>
        <p:nvSpPr>
          <p:cNvPr name="Freeform 4" id="4"/>
          <p:cNvSpPr/>
          <p:nvPr/>
        </p:nvSpPr>
        <p:spPr>
          <a:xfrm flipH="false" flipV="false" rot="0">
            <a:off x="11967251"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Freeform 5" id="5"/>
          <p:cNvSpPr/>
          <p:nvPr/>
        </p:nvSpPr>
        <p:spPr>
          <a:xfrm flipH="false" flipV="false" rot="0">
            <a:off x="-3313865" y="-786384"/>
            <a:ext cx="7315200" cy="1572768"/>
          </a:xfrm>
          <a:custGeom>
            <a:avLst/>
            <a:gdLst/>
            <a:ahLst/>
            <a:cxnLst/>
            <a:rect r="r" b="b" t="t" l="l"/>
            <a:pathLst>
              <a:path h="1572768" w="7315200">
                <a:moveTo>
                  <a:pt x="0" y="0"/>
                </a:moveTo>
                <a:lnTo>
                  <a:pt x="7315200" y="0"/>
                </a:lnTo>
                <a:lnTo>
                  <a:pt x="7315200" y="1572768"/>
                </a:lnTo>
                <a:lnTo>
                  <a:pt x="0" y="15727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800000">
            <a:off x="14142315" y="-406653"/>
            <a:ext cx="7315200" cy="1572768"/>
          </a:xfrm>
          <a:custGeom>
            <a:avLst/>
            <a:gdLst/>
            <a:ahLst/>
            <a:cxnLst/>
            <a:rect r="r" b="b" t="t" l="l"/>
            <a:pathLst>
              <a:path h="1572768" w="7315200">
                <a:moveTo>
                  <a:pt x="0" y="0"/>
                </a:moveTo>
                <a:lnTo>
                  <a:pt x="7315200" y="0"/>
                </a:lnTo>
                <a:lnTo>
                  <a:pt x="7315200" y="1572768"/>
                </a:lnTo>
                <a:lnTo>
                  <a:pt x="0" y="15727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028700" y="3834211"/>
            <a:ext cx="10938551" cy="1223246"/>
          </a:xfrm>
          <a:prstGeom prst="rect">
            <a:avLst/>
          </a:prstGeom>
        </p:spPr>
        <p:txBody>
          <a:bodyPr anchor="t" rtlCol="false" tIns="0" lIns="0" bIns="0" rIns="0">
            <a:spAutoFit/>
          </a:bodyPr>
          <a:lstStyle/>
          <a:p>
            <a:pPr algn="l">
              <a:lnSpc>
                <a:spcPts val="4646"/>
              </a:lnSpc>
              <a:spcBef>
                <a:spcPct val="0"/>
              </a:spcBef>
            </a:pPr>
            <a:r>
              <a:rPr lang="en-US" sz="5051">
                <a:solidFill>
                  <a:srgbClr val="FFFFFF"/>
                </a:solidFill>
                <a:latin typeface="Intro Rust"/>
                <a:ea typeface="Intro Rust"/>
                <a:cs typeface="Intro Rust"/>
                <a:sym typeface="Intro Rust"/>
              </a:rPr>
              <a:t>ANALISIS</a:t>
            </a:r>
            <a:r>
              <a:rPr lang="en-US" sz="5051">
                <a:solidFill>
                  <a:srgbClr val="FFFFFF"/>
                </a:solidFill>
                <a:latin typeface="Intro Rust"/>
                <a:ea typeface="Intro Rust"/>
                <a:cs typeface="Intro Rust"/>
                <a:sym typeface="Intro Rust"/>
              </a:rPr>
              <a:t> KINEMATIK &amp; EVALUASI POSTUR OLAHRAGA</a:t>
            </a:r>
          </a:p>
        </p:txBody>
      </p:sp>
      <p:sp>
        <p:nvSpPr>
          <p:cNvPr name="TextBox 8" id="8"/>
          <p:cNvSpPr txBox="true"/>
          <p:nvPr/>
        </p:nvSpPr>
        <p:spPr>
          <a:xfrm rot="0">
            <a:off x="1028700" y="5259883"/>
            <a:ext cx="7936775" cy="386260"/>
          </a:xfrm>
          <a:prstGeom prst="rect">
            <a:avLst/>
          </a:prstGeom>
        </p:spPr>
        <p:txBody>
          <a:bodyPr anchor="t" rtlCol="false" tIns="0" lIns="0" bIns="0" rIns="0">
            <a:spAutoFit/>
          </a:bodyPr>
          <a:lstStyle/>
          <a:p>
            <a:pPr algn="l">
              <a:lnSpc>
                <a:spcPts val="3217"/>
              </a:lnSpc>
            </a:pPr>
            <a:r>
              <a:rPr lang="en-US" sz="2298">
                <a:solidFill>
                  <a:srgbClr val="FFFFFF"/>
                </a:solidFill>
                <a:latin typeface="Nunito"/>
                <a:ea typeface="Nunito"/>
                <a:cs typeface="Nunito"/>
                <a:sym typeface="Nunito"/>
              </a:rPr>
              <a:t>Real-time berbasis AI Pose Estimation pada sistem SKELIO</a:t>
            </a:r>
          </a:p>
        </p:txBody>
      </p:sp>
      <p:sp>
        <p:nvSpPr>
          <p:cNvPr name="TextBox 9" id="9"/>
          <p:cNvSpPr txBox="true"/>
          <p:nvPr/>
        </p:nvSpPr>
        <p:spPr>
          <a:xfrm rot="0">
            <a:off x="1028700" y="2935485"/>
            <a:ext cx="5162394" cy="236731"/>
          </a:xfrm>
          <a:prstGeom prst="rect">
            <a:avLst/>
          </a:prstGeom>
        </p:spPr>
        <p:txBody>
          <a:bodyPr anchor="t" rtlCol="false" tIns="0" lIns="0" bIns="0" rIns="0">
            <a:spAutoFit/>
          </a:bodyPr>
          <a:lstStyle/>
          <a:p>
            <a:pPr algn="l">
              <a:lnSpc>
                <a:spcPts val="1820"/>
              </a:lnSpc>
              <a:spcBef>
                <a:spcPct val="0"/>
              </a:spcBef>
            </a:pPr>
            <a:r>
              <a:rPr lang="en-US" b="true" sz="1820" spc="151">
                <a:solidFill>
                  <a:srgbClr val="FFFFFF"/>
                </a:solidFill>
                <a:latin typeface="Open Sans Bold"/>
                <a:ea typeface="Open Sans Bold"/>
                <a:cs typeface="Open Sans Bold"/>
                <a:sym typeface="Open Sans Bold"/>
              </a:rPr>
              <a:t>PRESENTASI</a:t>
            </a:r>
            <a:r>
              <a:rPr lang="en-US" b="true" sz="1820" spc="151">
                <a:solidFill>
                  <a:srgbClr val="FFFFFF"/>
                </a:solidFill>
                <a:latin typeface="Open Sans Bold"/>
                <a:ea typeface="Open Sans Bold"/>
                <a:cs typeface="Open Sans Bold"/>
                <a:sym typeface="Open Sans Bold"/>
              </a:rPr>
              <a:t> BIG DATA • KELOMPOK 11</a:t>
            </a:r>
          </a:p>
        </p:txBody>
      </p:sp>
      <p:sp>
        <p:nvSpPr>
          <p:cNvPr name="TextBox 10" id="10"/>
          <p:cNvSpPr txBox="true"/>
          <p:nvPr/>
        </p:nvSpPr>
        <p:spPr>
          <a:xfrm rot="0">
            <a:off x="1028700" y="9057930"/>
            <a:ext cx="6567508" cy="186511"/>
          </a:xfrm>
          <a:prstGeom prst="rect">
            <a:avLst/>
          </a:prstGeom>
        </p:spPr>
        <p:txBody>
          <a:bodyPr anchor="t" rtlCol="false" tIns="0" lIns="0" bIns="0" rIns="0">
            <a:spAutoFit/>
          </a:bodyPr>
          <a:lstStyle/>
          <a:p>
            <a:pPr algn="l">
              <a:lnSpc>
                <a:spcPts val="1424"/>
              </a:lnSpc>
              <a:spcBef>
                <a:spcPct val="0"/>
              </a:spcBef>
            </a:pPr>
            <a:r>
              <a:rPr lang="en-US" b="true" sz="1424" spc="118">
                <a:solidFill>
                  <a:srgbClr val="FFFFFF"/>
                </a:solidFill>
                <a:latin typeface="Open Sans Bold"/>
                <a:ea typeface="Open Sans Bold"/>
                <a:cs typeface="Open Sans Bold"/>
                <a:sym typeface="Open Sans Bold"/>
              </a:rPr>
              <a:t>FAKULTAS</a:t>
            </a:r>
            <a:r>
              <a:rPr lang="en-US" b="true" sz="1424" spc="118">
                <a:solidFill>
                  <a:srgbClr val="FFFFFF"/>
                </a:solidFill>
                <a:latin typeface="Open Sans Bold"/>
                <a:ea typeface="Open Sans Bold"/>
                <a:cs typeface="Open Sans Bold"/>
                <a:sym typeface="Open Sans Bold"/>
              </a:rPr>
              <a:t> TEKNIK | PROGRAM STUDI TEKNIK INFORMATIKA</a:t>
            </a:r>
          </a:p>
        </p:txBody>
      </p:sp>
      <p:grpSp>
        <p:nvGrpSpPr>
          <p:cNvPr name="Group 11" id="11"/>
          <p:cNvGrpSpPr/>
          <p:nvPr/>
        </p:nvGrpSpPr>
        <p:grpSpPr>
          <a:xfrm rot="0">
            <a:off x="921323" y="7981460"/>
            <a:ext cx="8880735" cy="809771"/>
            <a:chOff x="0" y="0"/>
            <a:chExt cx="1298387" cy="118391"/>
          </a:xfrm>
        </p:grpSpPr>
        <p:sp>
          <p:nvSpPr>
            <p:cNvPr name="Freeform 12" id="12"/>
            <p:cNvSpPr/>
            <p:nvPr/>
          </p:nvSpPr>
          <p:spPr>
            <a:xfrm flipH="false" flipV="false" rot="0">
              <a:off x="0" y="0"/>
              <a:ext cx="1298387" cy="118391"/>
            </a:xfrm>
            <a:custGeom>
              <a:avLst/>
              <a:gdLst/>
              <a:ahLst/>
              <a:cxnLst/>
              <a:rect r="r" b="b" t="t" l="l"/>
              <a:pathLst>
                <a:path h="118391" w="1298387">
                  <a:moveTo>
                    <a:pt x="23538" y="0"/>
                  </a:moveTo>
                  <a:lnTo>
                    <a:pt x="1274849" y="0"/>
                  </a:lnTo>
                  <a:cubicBezTo>
                    <a:pt x="1281092" y="0"/>
                    <a:pt x="1287079" y="2480"/>
                    <a:pt x="1291493" y="6894"/>
                  </a:cubicBezTo>
                  <a:cubicBezTo>
                    <a:pt x="1295907" y="11308"/>
                    <a:pt x="1298387" y="17295"/>
                    <a:pt x="1298387" y="23538"/>
                  </a:cubicBezTo>
                  <a:lnTo>
                    <a:pt x="1298387" y="94853"/>
                  </a:lnTo>
                  <a:cubicBezTo>
                    <a:pt x="1298387" y="101096"/>
                    <a:pt x="1295907" y="107082"/>
                    <a:pt x="1291493" y="111497"/>
                  </a:cubicBezTo>
                  <a:cubicBezTo>
                    <a:pt x="1287079" y="115911"/>
                    <a:pt x="1281092" y="118391"/>
                    <a:pt x="1274849" y="118391"/>
                  </a:cubicBezTo>
                  <a:lnTo>
                    <a:pt x="23538" y="118391"/>
                  </a:lnTo>
                  <a:cubicBezTo>
                    <a:pt x="17295" y="118391"/>
                    <a:pt x="11308" y="115911"/>
                    <a:pt x="6894" y="111497"/>
                  </a:cubicBezTo>
                  <a:cubicBezTo>
                    <a:pt x="2480" y="107082"/>
                    <a:pt x="0" y="101096"/>
                    <a:pt x="0" y="94853"/>
                  </a:cubicBezTo>
                  <a:lnTo>
                    <a:pt x="0" y="23538"/>
                  </a:lnTo>
                  <a:cubicBezTo>
                    <a:pt x="0" y="17295"/>
                    <a:pt x="2480" y="11308"/>
                    <a:pt x="6894" y="6894"/>
                  </a:cubicBezTo>
                  <a:cubicBezTo>
                    <a:pt x="11308" y="2480"/>
                    <a:pt x="17295" y="0"/>
                    <a:pt x="23538" y="0"/>
                  </a:cubicBezTo>
                  <a:close/>
                </a:path>
              </a:pathLst>
            </a:custGeom>
            <a:solidFill>
              <a:srgbClr val="FFFFFF"/>
            </a:solidFill>
          </p:spPr>
        </p:sp>
        <p:sp>
          <p:nvSpPr>
            <p:cNvPr name="TextBox 13" id="13"/>
            <p:cNvSpPr txBox="true"/>
            <p:nvPr/>
          </p:nvSpPr>
          <p:spPr>
            <a:xfrm>
              <a:off x="0" y="-47625"/>
              <a:ext cx="1298387" cy="166016"/>
            </a:xfrm>
            <a:prstGeom prst="rect">
              <a:avLst/>
            </a:prstGeom>
          </p:spPr>
          <p:txBody>
            <a:bodyPr anchor="ctr" rtlCol="false" tIns="50800" lIns="50800" bIns="50800" rIns="50800"/>
            <a:lstStyle/>
            <a:p>
              <a:pPr algn="ctr">
                <a:lnSpc>
                  <a:spcPts val="3017"/>
                </a:lnSpc>
              </a:pPr>
            </a:p>
          </p:txBody>
        </p:sp>
      </p:grpSp>
      <p:sp>
        <p:nvSpPr>
          <p:cNvPr name="TextBox 14" id="14"/>
          <p:cNvSpPr txBox="true"/>
          <p:nvPr/>
        </p:nvSpPr>
        <p:spPr>
          <a:xfrm rot="0">
            <a:off x="921323" y="8083457"/>
            <a:ext cx="8665982" cy="567676"/>
          </a:xfrm>
          <a:prstGeom prst="rect">
            <a:avLst/>
          </a:prstGeom>
        </p:spPr>
        <p:txBody>
          <a:bodyPr anchor="t" rtlCol="false" tIns="0" lIns="0" bIns="0" rIns="0">
            <a:spAutoFit/>
          </a:bodyPr>
          <a:lstStyle/>
          <a:p>
            <a:pPr algn="ctr">
              <a:lnSpc>
                <a:spcPts val="2310"/>
              </a:lnSpc>
            </a:pPr>
            <a:r>
              <a:rPr lang="en-US" sz="1650" b="true">
                <a:solidFill>
                  <a:srgbClr val="000000"/>
                </a:solidFill>
                <a:latin typeface="Nunito Bold"/>
                <a:ea typeface="Nunito Bold"/>
                <a:cs typeface="Nunito Bold"/>
                <a:sym typeface="Nunito Bold"/>
              </a:rPr>
              <a:t>Rizma Indra Pramudya</a:t>
            </a:r>
            <a:r>
              <a:rPr lang="en-US" sz="1650">
                <a:solidFill>
                  <a:srgbClr val="000000"/>
                </a:solidFill>
                <a:latin typeface="Nunito"/>
                <a:ea typeface="Nunito"/>
                <a:cs typeface="Nunito"/>
                <a:sym typeface="Nunito"/>
              </a:rPr>
              <a:t> ( 25051204370 ) | I</a:t>
            </a:r>
            <a:r>
              <a:rPr lang="en-US" sz="1650" b="true">
                <a:solidFill>
                  <a:srgbClr val="000000"/>
                </a:solidFill>
                <a:latin typeface="Nunito Bold"/>
                <a:ea typeface="Nunito Bold"/>
                <a:cs typeface="Nunito Bold"/>
                <a:sym typeface="Nunito Bold"/>
              </a:rPr>
              <a:t>zora Elverda Narulita Putri</a:t>
            </a:r>
            <a:r>
              <a:rPr lang="en-US" sz="1650">
                <a:solidFill>
                  <a:srgbClr val="000000"/>
                </a:solidFill>
                <a:latin typeface="Nunito"/>
                <a:ea typeface="Nunito"/>
                <a:cs typeface="Nunito"/>
                <a:sym typeface="Nunito"/>
              </a:rPr>
              <a:t> ( 25051204287 )</a:t>
            </a:r>
          </a:p>
          <a:p>
            <a:pPr algn="l">
              <a:lnSpc>
                <a:spcPts val="2310"/>
              </a:lnSpc>
            </a:pPr>
            <a:r>
              <a:rPr lang="en-US" sz="1650">
                <a:solidFill>
                  <a:srgbClr val="000000"/>
                </a:solidFill>
                <a:latin typeface="Nunito"/>
                <a:ea typeface="Nunito"/>
                <a:cs typeface="Nunito"/>
                <a:sym typeface="Nunito"/>
              </a:rPr>
              <a:t>   </a:t>
            </a:r>
            <a:r>
              <a:rPr lang="en-US" sz="1650" b="true">
                <a:solidFill>
                  <a:srgbClr val="000000"/>
                </a:solidFill>
                <a:latin typeface="Nunito Bold"/>
                <a:ea typeface="Nunito Bold"/>
                <a:cs typeface="Nunito Bold"/>
                <a:sym typeface="Nunito Bold"/>
              </a:rPr>
              <a:t>Putera Al Khalidi</a:t>
            </a:r>
            <a:r>
              <a:rPr lang="en-US" sz="1650">
                <a:solidFill>
                  <a:srgbClr val="000000"/>
                </a:solidFill>
                <a:latin typeface="Nunito"/>
                <a:ea typeface="Nunito"/>
                <a:cs typeface="Nunito"/>
                <a:sym typeface="Nunito"/>
              </a:rPr>
              <a:t> ( 25051204362 ) | </a:t>
            </a:r>
            <a:r>
              <a:rPr lang="en-US" sz="1650" b="true">
                <a:solidFill>
                  <a:srgbClr val="000000"/>
                </a:solidFill>
                <a:latin typeface="Nunito Bold"/>
                <a:ea typeface="Nunito Bold"/>
                <a:cs typeface="Nunito Bold"/>
                <a:sym typeface="Nunito Bold"/>
              </a:rPr>
              <a:t>Muhammad Abdullah Ro'in</a:t>
            </a:r>
            <a:r>
              <a:rPr lang="en-US" sz="1650">
                <a:solidFill>
                  <a:srgbClr val="000000"/>
                </a:solidFill>
                <a:latin typeface="Nunito"/>
                <a:ea typeface="Nunito"/>
                <a:cs typeface="Nunito"/>
                <a:sym typeface="Nunito"/>
              </a:rPr>
              <a:t> ( 25051204270 )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AutoShape 3" id="3"/>
          <p:cNvSpPr/>
          <p:nvPr/>
        </p:nvSpPr>
        <p:spPr>
          <a:xfrm>
            <a:off x="1028700" y="2098480"/>
            <a:ext cx="11563504"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1028700" y="2479550"/>
            <a:ext cx="7547073" cy="2196815"/>
            <a:chOff x="0" y="0"/>
            <a:chExt cx="1103402" cy="321180"/>
          </a:xfrm>
        </p:grpSpPr>
        <p:sp>
          <p:nvSpPr>
            <p:cNvPr name="Freeform 5" id="5"/>
            <p:cNvSpPr/>
            <p:nvPr/>
          </p:nvSpPr>
          <p:spPr>
            <a:xfrm flipH="false" flipV="false" rot="0">
              <a:off x="0" y="0"/>
              <a:ext cx="1103402" cy="321180"/>
            </a:xfrm>
            <a:custGeom>
              <a:avLst/>
              <a:gdLst/>
              <a:ahLst/>
              <a:cxnLst/>
              <a:rect r="r" b="b" t="t" l="l"/>
              <a:pathLst>
                <a:path h="321180" w="1103402">
                  <a:moveTo>
                    <a:pt x="27697" y="0"/>
                  </a:moveTo>
                  <a:lnTo>
                    <a:pt x="1075705" y="0"/>
                  </a:lnTo>
                  <a:cubicBezTo>
                    <a:pt x="1091002" y="0"/>
                    <a:pt x="1103402" y="12400"/>
                    <a:pt x="1103402" y="27697"/>
                  </a:cubicBezTo>
                  <a:lnTo>
                    <a:pt x="1103402" y="293483"/>
                  </a:lnTo>
                  <a:cubicBezTo>
                    <a:pt x="1103402" y="308780"/>
                    <a:pt x="1091002" y="321180"/>
                    <a:pt x="1075705" y="321180"/>
                  </a:cubicBezTo>
                  <a:lnTo>
                    <a:pt x="27697" y="321180"/>
                  </a:lnTo>
                  <a:cubicBezTo>
                    <a:pt x="20351" y="321180"/>
                    <a:pt x="13306" y="318262"/>
                    <a:pt x="8112" y="313068"/>
                  </a:cubicBezTo>
                  <a:cubicBezTo>
                    <a:pt x="2918" y="307874"/>
                    <a:pt x="0" y="300829"/>
                    <a:pt x="0" y="293483"/>
                  </a:cubicBezTo>
                  <a:lnTo>
                    <a:pt x="0" y="27697"/>
                  </a:lnTo>
                  <a:cubicBezTo>
                    <a:pt x="0" y="12400"/>
                    <a:pt x="12400" y="0"/>
                    <a:pt x="27697" y="0"/>
                  </a:cubicBezTo>
                  <a:close/>
                </a:path>
              </a:pathLst>
            </a:custGeom>
            <a:solidFill>
              <a:srgbClr val="FFFFFF"/>
            </a:solidFill>
          </p:spPr>
        </p:sp>
        <p:sp>
          <p:nvSpPr>
            <p:cNvPr name="TextBox 6" id="6"/>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7" id="7"/>
          <p:cNvSpPr txBox="true"/>
          <p:nvPr/>
        </p:nvSpPr>
        <p:spPr>
          <a:xfrm rot="0">
            <a:off x="1028700" y="933450"/>
            <a:ext cx="12579675" cy="894916"/>
          </a:xfrm>
          <a:prstGeom prst="rect">
            <a:avLst/>
          </a:prstGeom>
        </p:spPr>
        <p:txBody>
          <a:bodyPr anchor="t" rtlCol="false" tIns="0" lIns="0" bIns="0" rIns="0">
            <a:spAutoFit/>
          </a:bodyPr>
          <a:lstStyle/>
          <a:p>
            <a:pPr algn="l">
              <a:lnSpc>
                <a:spcPts val="7373"/>
              </a:lnSpc>
              <a:spcBef>
                <a:spcPct val="0"/>
              </a:spcBef>
            </a:pPr>
            <a:r>
              <a:rPr lang="en-US" sz="5267" b="true">
                <a:solidFill>
                  <a:srgbClr val="FFFFFF"/>
                </a:solidFill>
                <a:latin typeface="Open Sans Bold"/>
                <a:ea typeface="Open Sans Bold"/>
                <a:cs typeface="Open Sans Bold"/>
                <a:sym typeface="Open Sans Bold"/>
              </a:rPr>
              <a:t>Mengapa SKELIO dikemb</a:t>
            </a:r>
            <a:r>
              <a:rPr lang="en-US" b="true" sz="5267">
                <a:solidFill>
                  <a:srgbClr val="FFFFFF"/>
                </a:solidFill>
                <a:latin typeface="Open Sans Bold"/>
                <a:ea typeface="Open Sans Bold"/>
                <a:cs typeface="Open Sans Bold"/>
                <a:sym typeface="Open Sans Bold"/>
              </a:rPr>
              <a:t>angkan ?</a:t>
            </a:r>
          </a:p>
        </p:txBody>
      </p:sp>
      <p:sp>
        <p:nvSpPr>
          <p:cNvPr name="TextBox 8" id="8"/>
          <p:cNvSpPr txBox="true"/>
          <p:nvPr/>
        </p:nvSpPr>
        <p:spPr>
          <a:xfrm rot="0">
            <a:off x="1028700" y="406271"/>
            <a:ext cx="3056640" cy="374779"/>
          </a:xfrm>
          <a:prstGeom prst="rect">
            <a:avLst/>
          </a:prstGeom>
        </p:spPr>
        <p:txBody>
          <a:bodyPr anchor="t" rtlCol="false" tIns="0" lIns="0" bIns="0" rIns="0">
            <a:spAutoFit/>
          </a:bodyPr>
          <a:lstStyle/>
          <a:p>
            <a:pPr algn="ctr">
              <a:lnSpc>
                <a:spcPts val="3017"/>
              </a:lnSpc>
              <a:spcBef>
                <a:spcPct val="0"/>
              </a:spcBef>
            </a:pPr>
            <a:r>
              <a:rPr lang="en-US" b="true" sz="2155">
                <a:solidFill>
                  <a:srgbClr val="FFFFFF"/>
                </a:solidFill>
                <a:latin typeface="Nunito Bold"/>
                <a:ea typeface="Nunito Bold"/>
                <a:cs typeface="Nunito Bold"/>
                <a:sym typeface="Nunito Bold"/>
              </a:rPr>
              <a:t>01 • LATAR BELAKANG</a:t>
            </a:r>
          </a:p>
        </p:txBody>
      </p:sp>
      <p:sp>
        <p:nvSpPr>
          <p:cNvPr name="TextBox 9" id="9"/>
          <p:cNvSpPr txBox="true"/>
          <p:nvPr/>
        </p:nvSpPr>
        <p:spPr>
          <a:xfrm rot="0">
            <a:off x="1316152" y="2599856"/>
            <a:ext cx="4710788" cy="764481"/>
          </a:xfrm>
          <a:prstGeom prst="rect">
            <a:avLst/>
          </a:prstGeom>
        </p:spPr>
        <p:txBody>
          <a:bodyPr anchor="t" rtlCol="false" tIns="0" lIns="0" bIns="0" rIns="0">
            <a:spAutoFit/>
          </a:bodyPr>
          <a:lstStyle/>
          <a:p>
            <a:pPr algn="l">
              <a:lnSpc>
                <a:spcPts val="6258"/>
              </a:lnSpc>
              <a:spcBef>
                <a:spcPct val="0"/>
              </a:spcBef>
            </a:pPr>
            <a:r>
              <a:rPr lang="en-US" sz="4470" b="true">
                <a:solidFill>
                  <a:srgbClr val="171250"/>
                </a:solidFill>
                <a:latin typeface="Open Sans Bold"/>
                <a:ea typeface="Open Sans Bold"/>
                <a:cs typeface="Open Sans Bold"/>
                <a:sym typeface="Open Sans Bold"/>
              </a:rPr>
              <a:t>Latihan Mandiri</a:t>
            </a:r>
          </a:p>
        </p:txBody>
      </p:sp>
      <p:sp>
        <p:nvSpPr>
          <p:cNvPr name="TextBox 10" id="10"/>
          <p:cNvSpPr txBox="true"/>
          <p:nvPr/>
        </p:nvSpPr>
        <p:spPr>
          <a:xfrm rot="0">
            <a:off x="1316152" y="3421828"/>
            <a:ext cx="6878895" cy="860934"/>
          </a:xfrm>
          <a:prstGeom prst="rect">
            <a:avLst/>
          </a:prstGeom>
        </p:spPr>
        <p:txBody>
          <a:bodyPr anchor="t" rtlCol="false" tIns="0" lIns="0" bIns="0" rIns="0">
            <a:spAutoFit/>
          </a:bodyPr>
          <a:lstStyle/>
          <a:p>
            <a:pPr algn="just">
              <a:lnSpc>
                <a:spcPts val="3495"/>
              </a:lnSpc>
              <a:spcBef>
                <a:spcPct val="0"/>
              </a:spcBef>
            </a:pPr>
            <a:r>
              <a:rPr lang="en-US" sz="2496">
                <a:solidFill>
                  <a:srgbClr val="171250"/>
                </a:solidFill>
                <a:latin typeface="Open Sans"/>
                <a:ea typeface="Open Sans"/>
                <a:cs typeface="Open Sans"/>
                <a:sym typeface="Open Sans"/>
              </a:rPr>
              <a:t>Push-up, squat, dan sit-up berisiko dilakukan dengan postur yang kurang tepat.</a:t>
            </a:r>
          </a:p>
        </p:txBody>
      </p:sp>
      <p:grpSp>
        <p:nvGrpSpPr>
          <p:cNvPr name="Group 11" id="11"/>
          <p:cNvGrpSpPr/>
          <p:nvPr/>
        </p:nvGrpSpPr>
        <p:grpSpPr>
          <a:xfrm rot="0">
            <a:off x="9712227" y="2479550"/>
            <a:ext cx="7547073" cy="2196815"/>
            <a:chOff x="0" y="0"/>
            <a:chExt cx="1103402" cy="321180"/>
          </a:xfrm>
        </p:grpSpPr>
        <p:sp>
          <p:nvSpPr>
            <p:cNvPr name="Freeform 12" id="12"/>
            <p:cNvSpPr/>
            <p:nvPr/>
          </p:nvSpPr>
          <p:spPr>
            <a:xfrm flipH="false" flipV="false" rot="0">
              <a:off x="0" y="0"/>
              <a:ext cx="1103402" cy="321180"/>
            </a:xfrm>
            <a:custGeom>
              <a:avLst/>
              <a:gdLst/>
              <a:ahLst/>
              <a:cxnLst/>
              <a:rect r="r" b="b" t="t" l="l"/>
              <a:pathLst>
                <a:path h="321180" w="1103402">
                  <a:moveTo>
                    <a:pt x="27697" y="0"/>
                  </a:moveTo>
                  <a:lnTo>
                    <a:pt x="1075705" y="0"/>
                  </a:lnTo>
                  <a:cubicBezTo>
                    <a:pt x="1091002" y="0"/>
                    <a:pt x="1103402" y="12400"/>
                    <a:pt x="1103402" y="27697"/>
                  </a:cubicBezTo>
                  <a:lnTo>
                    <a:pt x="1103402" y="293483"/>
                  </a:lnTo>
                  <a:cubicBezTo>
                    <a:pt x="1103402" y="308780"/>
                    <a:pt x="1091002" y="321180"/>
                    <a:pt x="1075705" y="321180"/>
                  </a:cubicBezTo>
                  <a:lnTo>
                    <a:pt x="27697" y="321180"/>
                  </a:lnTo>
                  <a:cubicBezTo>
                    <a:pt x="20351" y="321180"/>
                    <a:pt x="13306" y="318262"/>
                    <a:pt x="8112" y="313068"/>
                  </a:cubicBezTo>
                  <a:cubicBezTo>
                    <a:pt x="2918" y="307874"/>
                    <a:pt x="0" y="300829"/>
                    <a:pt x="0" y="293483"/>
                  </a:cubicBezTo>
                  <a:lnTo>
                    <a:pt x="0" y="27697"/>
                  </a:lnTo>
                  <a:cubicBezTo>
                    <a:pt x="0" y="12400"/>
                    <a:pt x="12400" y="0"/>
                    <a:pt x="27697" y="0"/>
                  </a:cubicBezTo>
                  <a:close/>
                </a:path>
              </a:pathLst>
            </a:custGeom>
            <a:solidFill>
              <a:srgbClr val="FFFFFF"/>
            </a:solidFill>
          </p:spPr>
        </p:sp>
        <p:sp>
          <p:nvSpPr>
            <p:cNvPr name="TextBox 13" id="13"/>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14" id="14"/>
          <p:cNvSpPr txBox="true"/>
          <p:nvPr/>
        </p:nvSpPr>
        <p:spPr>
          <a:xfrm rot="0">
            <a:off x="9999679" y="2599856"/>
            <a:ext cx="7785135" cy="764481"/>
          </a:xfrm>
          <a:prstGeom prst="rect">
            <a:avLst/>
          </a:prstGeom>
        </p:spPr>
        <p:txBody>
          <a:bodyPr anchor="t" rtlCol="false" tIns="0" lIns="0" bIns="0" rIns="0">
            <a:spAutoFit/>
          </a:bodyPr>
          <a:lstStyle/>
          <a:p>
            <a:pPr algn="l">
              <a:lnSpc>
                <a:spcPts val="6258"/>
              </a:lnSpc>
              <a:spcBef>
                <a:spcPct val="0"/>
              </a:spcBef>
            </a:pPr>
            <a:r>
              <a:rPr lang="en-US" sz="4470" b="true">
                <a:solidFill>
                  <a:srgbClr val="171250"/>
                </a:solidFill>
                <a:latin typeface="Open Sans Bold"/>
                <a:ea typeface="Open Sans Bold"/>
                <a:cs typeface="Open Sans Bold"/>
                <a:sym typeface="Open Sans Bold"/>
              </a:rPr>
              <a:t>Risiko dan keterbatasan</a:t>
            </a:r>
          </a:p>
        </p:txBody>
      </p:sp>
      <p:sp>
        <p:nvSpPr>
          <p:cNvPr name="TextBox 15" id="15"/>
          <p:cNvSpPr txBox="true"/>
          <p:nvPr/>
        </p:nvSpPr>
        <p:spPr>
          <a:xfrm rot="0">
            <a:off x="9999679" y="3421828"/>
            <a:ext cx="6878895" cy="860934"/>
          </a:xfrm>
          <a:prstGeom prst="rect">
            <a:avLst/>
          </a:prstGeom>
        </p:spPr>
        <p:txBody>
          <a:bodyPr anchor="t" rtlCol="false" tIns="0" lIns="0" bIns="0" rIns="0">
            <a:spAutoFit/>
          </a:bodyPr>
          <a:lstStyle/>
          <a:p>
            <a:pPr algn="just">
              <a:lnSpc>
                <a:spcPts val="3495"/>
              </a:lnSpc>
              <a:spcBef>
                <a:spcPct val="0"/>
              </a:spcBef>
            </a:pPr>
            <a:r>
              <a:rPr lang="en-US" sz="2496">
                <a:solidFill>
                  <a:srgbClr val="171250"/>
                </a:solidFill>
                <a:latin typeface="Open Sans"/>
                <a:ea typeface="Open Sans"/>
                <a:cs typeface="Open Sans"/>
                <a:sym typeface="Open Sans"/>
              </a:rPr>
              <a:t>Kesalahan gerak dapat mengurangi efektivitas latihan dan meningkatkan risiko cedera.</a:t>
            </a:r>
          </a:p>
        </p:txBody>
      </p:sp>
      <p:grpSp>
        <p:nvGrpSpPr>
          <p:cNvPr name="Group 16" id="16"/>
          <p:cNvGrpSpPr/>
          <p:nvPr/>
        </p:nvGrpSpPr>
        <p:grpSpPr>
          <a:xfrm rot="0">
            <a:off x="1028700" y="5324065"/>
            <a:ext cx="16230600" cy="3934235"/>
            <a:chOff x="0" y="0"/>
            <a:chExt cx="2372956" cy="575196"/>
          </a:xfrm>
        </p:grpSpPr>
        <p:sp>
          <p:nvSpPr>
            <p:cNvPr name="Freeform 17" id="17"/>
            <p:cNvSpPr/>
            <p:nvPr/>
          </p:nvSpPr>
          <p:spPr>
            <a:xfrm flipH="false" flipV="false" rot="0">
              <a:off x="0" y="0"/>
              <a:ext cx="2372957" cy="575196"/>
            </a:xfrm>
            <a:custGeom>
              <a:avLst/>
              <a:gdLst/>
              <a:ahLst/>
              <a:cxnLst/>
              <a:rect r="r" b="b" t="t" l="l"/>
              <a:pathLst>
                <a:path h="575196" w="2372957">
                  <a:moveTo>
                    <a:pt x="12879" y="0"/>
                  </a:moveTo>
                  <a:lnTo>
                    <a:pt x="2360078" y="0"/>
                  </a:lnTo>
                  <a:cubicBezTo>
                    <a:pt x="2367190" y="0"/>
                    <a:pt x="2372957" y="5766"/>
                    <a:pt x="2372957" y="12879"/>
                  </a:cubicBezTo>
                  <a:lnTo>
                    <a:pt x="2372957" y="562317"/>
                  </a:lnTo>
                  <a:cubicBezTo>
                    <a:pt x="2372957" y="569429"/>
                    <a:pt x="2367190" y="575196"/>
                    <a:pt x="2360078" y="575196"/>
                  </a:cubicBezTo>
                  <a:lnTo>
                    <a:pt x="12879" y="575196"/>
                  </a:lnTo>
                  <a:cubicBezTo>
                    <a:pt x="5766" y="575196"/>
                    <a:pt x="0" y="569429"/>
                    <a:pt x="0" y="562317"/>
                  </a:cubicBezTo>
                  <a:lnTo>
                    <a:pt x="0" y="12879"/>
                  </a:lnTo>
                  <a:cubicBezTo>
                    <a:pt x="0" y="5766"/>
                    <a:pt x="5766" y="0"/>
                    <a:pt x="12879" y="0"/>
                  </a:cubicBezTo>
                  <a:close/>
                </a:path>
              </a:pathLst>
            </a:custGeom>
            <a:solidFill>
              <a:srgbClr val="FFFFFF"/>
            </a:solidFill>
          </p:spPr>
        </p:sp>
        <p:sp>
          <p:nvSpPr>
            <p:cNvPr name="TextBox 18" id="18"/>
            <p:cNvSpPr txBox="true"/>
            <p:nvPr/>
          </p:nvSpPr>
          <p:spPr>
            <a:xfrm>
              <a:off x="0" y="-47625"/>
              <a:ext cx="2372956" cy="622821"/>
            </a:xfrm>
            <a:prstGeom prst="rect">
              <a:avLst/>
            </a:prstGeom>
          </p:spPr>
          <p:txBody>
            <a:bodyPr anchor="ctr" rtlCol="false" tIns="50800" lIns="50800" bIns="50800" rIns="50800"/>
            <a:lstStyle/>
            <a:p>
              <a:pPr algn="ctr">
                <a:lnSpc>
                  <a:spcPts val="3017"/>
                </a:lnSpc>
              </a:pPr>
            </a:p>
          </p:txBody>
        </p:sp>
      </p:grpSp>
      <p:sp>
        <p:nvSpPr>
          <p:cNvPr name="TextBox 19" id="19"/>
          <p:cNvSpPr txBox="true"/>
          <p:nvPr/>
        </p:nvSpPr>
        <p:spPr>
          <a:xfrm rot="0">
            <a:off x="1316152" y="5674935"/>
            <a:ext cx="10721815" cy="817021"/>
          </a:xfrm>
          <a:prstGeom prst="rect">
            <a:avLst/>
          </a:prstGeom>
        </p:spPr>
        <p:txBody>
          <a:bodyPr anchor="t" rtlCol="false" tIns="0" lIns="0" bIns="0" rIns="0">
            <a:spAutoFit/>
          </a:bodyPr>
          <a:lstStyle/>
          <a:p>
            <a:pPr algn="l">
              <a:lnSpc>
                <a:spcPts val="6743"/>
              </a:lnSpc>
              <a:spcBef>
                <a:spcPct val="0"/>
              </a:spcBef>
            </a:pPr>
            <a:r>
              <a:rPr lang="en-US" sz="4816" b="true">
                <a:solidFill>
                  <a:srgbClr val="171250"/>
                </a:solidFill>
                <a:latin typeface="Open Sans Bold"/>
                <a:ea typeface="Open Sans Bold"/>
                <a:cs typeface="Open Sans Bold"/>
                <a:sym typeface="Open Sans Bold"/>
              </a:rPr>
              <a:t>GAGASAN UTAMA</a:t>
            </a:r>
          </a:p>
        </p:txBody>
      </p:sp>
      <p:sp>
        <p:nvSpPr>
          <p:cNvPr name="TextBox 20" id="20"/>
          <p:cNvSpPr txBox="true"/>
          <p:nvPr/>
        </p:nvSpPr>
        <p:spPr>
          <a:xfrm rot="0">
            <a:off x="1316152" y="6776493"/>
            <a:ext cx="15562421" cy="968785"/>
          </a:xfrm>
          <a:prstGeom prst="rect">
            <a:avLst/>
          </a:prstGeom>
        </p:spPr>
        <p:txBody>
          <a:bodyPr anchor="t" rtlCol="false" tIns="0" lIns="0" bIns="0" rIns="0">
            <a:spAutoFit/>
          </a:bodyPr>
          <a:lstStyle/>
          <a:p>
            <a:pPr algn="just">
              <a:lnSpc>
                <a:spcPts val="3758"/>
              </a:lnSpc>
              <a:spcBef>
                <a:spcPct val="0"/>
              </a:spcBef>
            </a:pPr>
            <a:r>
              <a:rPr lang="en-US" sz="3613" spc="227">
                <a:solidFill>
                  <a:srgbClr val="171250"/>
                </a:solidFill>
                <a:latin typeface="Open Sans"/>
                <a:ea typeface="Open Sans"/>
                <a:cs typeface="Open Sans"/>
                <a:sym typeface="Open Sans"/>
              </a:rPr>
              <a:t>Mengubah video kamera menjadi informasi gerakan yang dapat dianalisis dan memberi umpan balik secara real-time.</a:t>
            </a:r>
          </a:p>
        </p:txBody>
      </p:sp>
      <p:sp>
        <p:nvSpPr>
          <p:cNvPr name="TextBox 21" id="21"/>
          <p:cNvSpPr txBox="true"/>
          <p:nvPr/>
        </p:nvSpPr>
        <p:spPr>
          <a:xfrm rot="0">
            <a:off x="1316152" y="8916853"/>
            <a:ext cx="15302812" cy="225044"/>
          </a:xfrm>
          <a:prstGeom prst="rect">
            <a:avLst/>
          </a:prstGeom>
        </p:spPr>
        <p:txBody>
          <a:bodyPr anchor="t" rtlCol="false" tIns="0" lIns="0" bIns="0" rIns="0">
            <a:spAutoFit/>
          </a:bodyPr>
          <a:lstStyle/>
          <a:p>
            <a:pPr algn="just">
              <a:lnSpc>
                <a:spcPts val="1767"/>
              </a:lnSpc>
              <a:spcBef>
                <a:spcPct val="0"/>
              </a:spcBef>
            </a:pPr>
            <a:r>
              <a:rPr lang="en-US" sz="1699" spc="107">
                <a:solidFill>
                  <a:srgbClr val="171250"/>
                </a:solidFill>
                <a:latin typeface="Open Sans"/>
                <a:ea typeface="Open Sans"/>
                <a:cs typeface="Open Sans"/>
                <a:sym typeface="Open Sans"/>
              </a:rPr>
              <a:t>Pendekatan markerless: tanpa penanda fisik khusus pada tubuh pengguna.</a:t>
            </a:r>
          </a:p>
        </p:txBody>
      </p:sp>
      <p:sp>
        <p:nvSpPr>
          <p:cNvPr name="TextBox 22" id="22"/>
          <p:cNvSpPr txBox="true"/>
          <p:nvPr/>
        </p:nvSpPr>
        <p:spPr>
          <a:xfrm rot="0">
            <a:off x="1008444" y="9858375"/>
            <a:ext cx="7494311" cy="225044"/>
          </a:xfrm>
          <a:prstGeom prst="rect">
            <a:avLst/>
          </a:prstGeom>
        </p:spPr>
        <p:txBody>
          <a:bodyPr anchor="t" rtlCol="false" tIns="0" lIns="0" bIns="0" rIns="0">
            <a:spAutoFit/>
          </a:bodyPr>
          <a:lstStyle/>
          <a:p>
            <a:pPr algn="just">
              <a:lnSpc>
                <a:spcPts val="1767"/>
              </a:lnSpc>
              <a:spcBef>
                <a:spcPct val="0"/>
              </a:spcBef>
            </a:pPr>
            <a:r>
              <a:rPr lang="en-US" sz="1699" spc="107">
                <a:solidFill>
                  <a:srgbClr val="FFFFFF"/>
                </a:solidFill>
                <a:latin typeface="Open Sans"/>
                <a:ea typeface="Open Sans"/>
                <a:cs typeface="Open Sans"/>
                <a:sym typeface="Open Sans"/>
              </a:rPr>
              <a:t>KELOM</a:t>
            </a:r>
            <a:r>
              <a:rPr lang="en-US" sz="1699" spc="107">
                <a:solidFill>
                  <a:srgbClr val="FFFFFF"/>
                </a:solidFill>
                <a:latin typeface="Open Sans"/>
                <a:ea typeface="Open Sans"/>
                <a:cs typeface="Open Sans"/>
                <a:sym typeface="Open Sans"/>
              </a:rPr>
              <a:t>POK 11 • BIG DATA • UNIVERSITAS NEGERI SURABAYA 2026</a:t>
            </a:r>
          </a:p>
        </p:txBody>
      </p:sp>
    </p:spTree>
  </p:cSld>
  <p:clrMapOvr>
    <a:masterClrMapping/>
  </p:clrMapOvr>
  <p:transition spd="slow">
    <p:circl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1302" r="0" b="-71302"/>
            </a:stretch>
          </a:blipFill>
        </p:spPr>
      </p:sp>
      <p:sp>
        <p:nvSpPr>
          <p:cNvPr name="Freeform 3" id="3"/>
          <p:cNvSpPr/>
          <p:nvPr/>
        </p:nvSpPr>
        <p:spPr>
          <a:xfrm flipH="false" flipV="false" rot="0">
            <a:off x="-2069002" y="4084179"/>
            <a:ext cx="5417130" cy="6202821"/>
          </a:xfrm>
          <a:custGeom>
            <a:avLst/>
            <a:gdLst/>
            <a:ahLst/>
            <a:cxnLst/>
            <a:rect r="r" b="b" t="t" l="l"/>
            <a:pathLst>
              <a:path h="6202821" w="5417130">
                <a:moveTo>
                  <a:pt x="0" y="0"/>
                </a:moveTo>
                <a:lnTo>
                  <a:pt x="5417130" y="0"/>
                </a:lnTo>
                <a:lnTo>
                  <a:pt x="5417130" y="6202821"/>
                </a:lnTo>
                <a:lnTo>
                  <a:pt x="0" y="6202821"/>
                </a:lnTo>
                <a:lnTo>
                  <a:pt x="0" y="0"/>
                </a:lnTo>
                <a:close/>
              </a:path>
            </a:pathLst>
          </a:custGeom>
          <a:blipFill>
            <a:blip r:embed="rId3"/>
            <a:stretch>
              <a:fillRect l="0" t="0" r="0" b="0"/>
            </a:stretch>
          </a:blipFill>
        </p:spPr>
      </p:sp>
      <p:sp>
        <p:nvSpPr>
          <p:cNvPr name="TextBox 4" id="4"/>
          <p:cNvSpPr txBox="true"/>
          <p:nvPr/>
        </p:nvSpPr>
        <p:spPr>
          <a:xfrm rot="0">
            <a:off x="989501" y="637647"/>
            <a:ext cx="6983087" cy="531148"/>
          </a:xfrm>
          <a:prstGeom prst="rect">
            <a:avLst/>
          </a:prstGeom>
        </p:spPr>
        <p:txBody>
          <a:bodyPr anchor="t" rtlCol="false" tIns="0" lIns="0" bIns="0" rIns="0">
            <a:spAutoFit/>
          </a:bodyPr>
          <a:lstStyle/>
          <a:p>
            <a:pPr algn="l">
              <a:lnSpc>
                <a:spcPts val="4380"/>
              </a:lnSpc>
            </a:pPr>
            <a:r>
              <a:rPr lang="en-US" sz="3128">
                <a:solidFill>
                  <a:srgbClr val="FFFFFF"/>
                </a:solidFill>
                <a:latin typeface="Nunito"/>
                <a:ea typeface="Nunito"/>
                <a:cs typeface="Nunito"/>
                <a:sym typeface="Nunito"/>
              </a:rPr>
              <a:t>PENDAHULUAN SISTEM SKELIO</a:t>
            </a:r>
          </a:p>
        </p:txBody>
      </p:sp>
      <p:sp>
        <p:nvSpPr>
          <p:cNvPr name="Freeform 5" id="5"/>
          <p:cNvSpPr/>
          <p:nvPr/>
        </p:nvSpPr>
        <p:spPr>
          <a:xfrm flipH="false" flipV="false" rot="0">
            <a:off x="639563" y="2984833"/>
            <a:ext cx="5434545" cy="5690623"/>
          </a:xfrm>
          <a:custGeom>
            <a:avLst/>
            <a:gdLst/>
            <a:ahLst/>
            <a:cxnLst/>
            <a:rect r="r" b="b" t="t" l="l"/>
            <a:pathLst>
              <a:path h="5690623" w="5434545">
                <a:moveTo>
                  <a:pt x="0" y="0"/>
                </a:moveTo>
                <a:lnTo>
                  <a:pt x="5434546" y="0"/>
                </a:lnTo>
                <a:lnTo>
                  <a:pt x="5434546" y="5690623"/>
                </a:lnTo>
                <a:lnTo>
                  <a:pt x="0" y="5690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56788" y="4832350"/>
            <a:ext cx="4523825" cy="860425"/>
          </a:xfrm>
          <a:prstGeom prst="rect">
            <a:avLst/>
          </a:prstGeom>
        </p:spPr>
        <p:txBody>
          <a:bodyPr anchor="t" rtlCol="false" tIns="0" lIns="0" bIns="0" rIns="0">
            <a:spAutoFit/>
          </a:bodyPr>
          <a:lstStyle/>
          <a:p>
            <a:pPr algn="just">
              <a:lnSpc>
                <a:spcPts val="3499"/>
              </a:lnSpc>
            </a:pPr>
            <a:r>
              <a:rPr lang="en-US" sz="2499" b="true">
                <a:solidFill>
                  <a:srgbClr val="171250"/>
                </a:solidFill>
                <a:latin typeface="Nunito Bold"/>
                <a:ea typeface="Nunito Bold"/>
                <a:cs typeface="Nunito Bold"/>
                <a:sym typeface="Nunito Bold"/>
              </a:rPr>
              <a:t>P</a:t>
            </a:r>
            <a:r>
              <a:rPr lang="en-US" b="true" sz="2499">
                <a:solidFill>
                  <a:srgbClr val="171250"/>
                </a:solidFill>
                <a:latin typeface="Nunito Bold"/>
                <a:ea typeface="Nunito Bold"/>
                <a:cs typeface="Nunito Bold"/>
                <a:sym typeface="Nunito Bold"/>
              </a:rPr>
              <a:t>ostur Keliru</a:t>
            </a:r>
            <a:r>
              <a:rPr lang="en-US" sz="2499">
                <a:solidFill>
                  <a:srgbClr val="171250"/>
                </a:solidFill>
                <a:latin typeface="Nunito"/>
                <a:ea typeface="Nunito"/>
                <a:cs typeface="Nunito"/>
                <a:sym typeface="Nunito"/>
              </a:rPr>
              <a:t>: Risiko cedera sendi tulang belakang.</a:t>
            </a:r>
          </a:p>
        </p:txBody>
      </p:sp>
      <p:sp>
        <p:nvSpPr>
          <p:cNvPr name="TextBox 7" id="7"/>
          <p:cNvSpPr txBox="true"/>
          <p:nvPr/>
        </p:nvSpPr>
        <p:spPr>
          <a:xfrm rot="0">
            <a:off x="823933" y="3840968"/>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Risiko Latihan M</a:t>
            </a:r>
            <a:r>
              <a:rPr lang="en-US" sz="2799" b="true">
                <a:solidFill>
                  <a:srgbClr val="171250"/>
                </a:solidFill>
                <a:latin typeface="Nunito Bold"/>
                <a:ea typeface="Nunito Bold"/>
                <a:cs typeface="Nunito Bold"/>
                <a:sym typeface="Nunito Bold"/>
              </a:rPr>
              <a:t>andiri</a:t>
            </a:r>
          </a:p>
        </p:txBody>
      </p:sp>
      <p:sp>
        <p:nvSpPr>
          <p:cNvPr name="TextBox 8" id="8"/>
          <p:cNvSpPr txBox="true"/>
          <p:nvPr/>
        </p:nvSpPr>
        <p:spPr>
          <a:xfrm rot="0">
            <a:off x="1056788" y="6826427"/>
            <a:ext cx="4523825" cy="860425"/>
          </a:xfrm>
          <a:prstGeom prst="rect">
            <a:avLst/>
          </a:prstGeom>
        </p:spPr>
        <p:txBody>
          <a:bodyPr anchor="t" rtlCol="false" tIns="0" lIns="0" bIns="0" rIns="0">
            <a:spAutoFit/>
          </a:bodyPr>
          <a:lstStyle/>
          <a:p>
            <a:pPr algn="just">
              <a:lnSpc>
                <a:spcPts val="3499"/>
              </a:lnSpc>
            </a:pPr>
            <a:r>
              <a:rPr lang="en-US" sz="2499" b="true">
                <a:solidFill>
                  <a:srgbClr val="363985"/>
                </a:solidFill>
                <a:latin typeface="Nunito Bold"/>
                <a:ea typeface="Nunito Bold"/>
                <a:cs typeface="Nunito Bold"/>
                <a:sym typeface="Nunito Bold"/>
              </a:rPr>
              <a:t>T</a:t>
            </a:r>
            <a:r>
              <a:rPr lang="en-US" b="true" sz="2499">
                <a:solidFill>
                  <a:srgbClr val="363985"/>
                </a:solidFill>
                <a:latin typeface="Nunito Bold"/>
                <a:ea typeface="Nunito Bold"/>
                <a:cs typeface="Nunito Bold"/>
                <a:sym typeface="Nunito Bold"/>
              </a:rPr>
              <a:t>anpa Trainer: </a:t>
            </a:r>
            <a:r>
              <a:rPr lang="en-US" sz="2499">
                <a:solidFill>
                  <a:srgbClr val="363985"/>
                </a:solidFill>
                <a:latin typeface="Nunito"/>
                <a:ea typeface="Nunito"/>
                <a:cs typeface="Nunito"/>
                <a:sym typeface="Nunito"/>
              </a:rPr>
              <a:t>Minim koreksi teknis secara langsung.</a:t>
            </a:r>
          </a:p>
        </p:txBody>
      </p:sp>
      <p:sp>
        <p:nvSpPr>
          <p:cNvPr name="AutoShape 9" id="9"/>
          <p:cNvSpPr/>
          <p:nvPr/>
        </p:nvSpPr>
        <p:spPr>
          <a:xfrm>
            <a:off x="989501" y="6200820"/>
            <a:ext cx="4489270" cy="0"/>
          </a:xfrm>
          <a:prstGeom prst="line">
            <a:avLst/>
          </a:prstGeom>
          <a:ln cap="rnd" w="57150">
            <a:solidFill>
              <a:srgbClr val="8F2E62"/>
            </a:solidFill>
            <a:prstDash val="solid"/>
            <a:headEnd type="none" len="sm" w="sm"/>
            <a:tailEnd type="none" len="sm" w="sm"/>
          </a:ln>
        </p:spPr>
      </p:sp>
      <p:sp>
        <p:nvSpPr>
          <p:cNvPr name="Freeform 10" id="10"/>
          <p:cNvSpPr/>
          <p:nvPr/>
        </p:nvSpPr>
        <p:spPr>
          <a:xfrm flipH="false" flipV="false" rot="0">
            <a:off x="12389115" y="2984833"/>
            <a:ext cx="5434545" cy="5690623"/>
          </a:xfrm>
          <a:custGeom>
            <a:avLst/>
            <a:gdLst/>
            <a:ahLst/>
            <a:cxnLst/>
            <a:rect r="r" b="b" t="t" l="l"/>
            <a:pathLst>
              <a:path h="5690623" w="5434545">
                <a:moveTo>
                  <a:pt x="0" y="0"/>
                </a:moveTo>
                <a:lnTo>
                  <a:pt x="5434545" y="0"/>
                </a:lnTo>
                <a:lnTo>
                  <a:pt x="5434545" y="5690623"/>
                </a:lnTo>
                <a:lnTo>
                  <a:pt x="0" y="56906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2806339" y="4806487"/>
            <a:ext cx="4523825"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YOLOv11-P</a:t>
            </a:r>
            <a:r>
              <a:rPr lang="en-US" sz="2499" b="true">
                <a:solidFill>
                  <a:srgbClr val="171250"/>
                </a:solidFill>
                <a:latin typeface="Nunito Bold"/>
                <a:ea typeface="Nunito Bold"/>
                <a:cs typeface="Nunito Bold"/>
                <a:sym typeface="Nunito Bold"/>
              </a:rPr>
              <a:t>ose</a:t>
            </a:r>
            <a:r>
              <a:rPr lang="en-US" sz="2499">
                <a:solidFill>
                  <a:srgbClr val="171250"/>
                </a:solidFill>
                <a:latin typeface="Nunito"/>
                <a:ea typeface="Nunito"/>
                <a:cs typeface="Nunito"/>
                <a:sym typeface="Nunito"/>
              </a:rPr>
              <a:t>: Deteksi titik sendi tanpa penanda.</a:t>
            </a:r>
          </a:p>
        </p:txBody>
      </p:sp>
      <p:sp>
        <p:nvSpPr>
          <p:cNvPr name="TextBox 12" id="12"/>
          <p:cNvSpPr txBox="true"/>
          <p:nvPr/>
        </p:nvSpPr>
        <p:spPr>
          <a:xfrm rot="0">
            <a:off x="12698406" y="3840968"/>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So</a:t>
            </a:r>
            <a:r>
              <a:rPr lang="en-US" sz="2799" b="true">
                <a:solidFill>
                  <a:srgbClr val="171250"/>
                </a:solidFill>
                <a:latin typeface="Nunito Bold"/>
                <a:ea typeface="Nunito Bold"/>
                <a:cs typeface="Nunito Bold"/>
                <a:sym typeface="Nunito Bold"/>
              </a:rPr>
              <a:t>lusi AI SKELIO</a:t>
            </a:r>
          </a:p>
        </p:txBody>
      </p:sp>
      <p:sp>
        <p:nvSpPr>
          <p:cNvPr name="TextBox 13" id="13"/>
          <p:cNvSpPr txBox="true"/>
          <p:nvPr/>
        </p:nvSpPr>
        <p:spPr>
          <a:xfrm rot="0">
            <a:off x="12806339" y="6835952"/>
            <a:ext cx="4523825" cy="86042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F</a:t>
            </a:r>
            <a:r>
              <a:rPr lang="en-US" sz="2499" b="true">
                <a:solidFill>
                  <a:srgbClr val="363985"/>
                </a:solidFill>
                <a:latin typeface="Nunito Bold"/>
                <a:ea typeface="Nunito Bold"/>
                <a:cs typeface="Nunito Bold"/>
                <a:sym typeface="Nunito Bold"/>
              </a:rPr>
              <a:t>ilter Adaptif:</a:t>
            </a:r>
            <a:r>
              <a:rPr lang="en-US" sz="2499">
                <a:solidFill>
                  <a:srgbClr val="363985"/>
                </a:solidFill>
                <a:latin typeface="Nunito"/>
                <a:ea typeface="Nunito"/>
                <a:cs typeface="Nunito"/>
                <a:sym typeface="Nunito"/>
              </a:rPr>
              <a:t> Redam getaran koordinat secara instan.</a:t>
            </a:r>
          </a:p>
        </p:txBody>
      </p:sp>
      <p:sp>
        <p:nvSpPr>
          <p:cNvPr name="AutoShape 14" id="14"/>
          <p:cNvSpPr/>
          <p:nvPr/>
        </p:nvSpPr>
        <p:spPr>
          <a:xfrm>
            <a:off x="12806339" y="6257970"/>
            <a:ext cx="4489270" cy="0"/>
          </a:xfrm>
          <a:prstGeom prst="line">
            <a:avLst/>
          </a:prstGeom>
          <a:ln cap="rnd" w="57150">
            <a:solidFill>
              <a:srgbClr val="8F2E62"/>
            </a:solidFill>
            <a:prstDash val="solid"/>
            <a:headEnd type="none" len="sm" w="sm"/>
            <a:tailEnd type="none" len="sm" w="sm"/>
          </a:ln>
        </p:spPr>
      </p:sp>
      <p:sp>
        <p:nvSpPr>
          <p:cNvPr name="Freeform 15" id="15"/>
          <p:cNvSpPr/>
          <p:nvPr/>
        </p:nvSpPr>
        <p:spPr>
          <a:xfrm flipH="false" flipV="false" rot="0">
            <a:off x="6514339" y="2984833"/>
            <a:ext cx="5434545" cy="5690623"/>
          </a:xfrm>
          <a:custGeom>
            <a:avLst/>
            <a:gdLst/>
            <a:ahLst/>
            <a:cxnLst/>
            <a:rect r="r" b="b" t="t" l="l"/>
            <a:pathLst>
              <a:path h="5690623" w="5434545">
                <a:moveTo>
                  <a:pt x="0" y="0"/>
                </a:moveTo>
                <a:lnTo>
                  <a:pt x="5434545" y="0"/>
                </a:lnTo>
                <a:lnTo>
                  <a:pt x="5434545" y="5690623"/>
                </a:lnTo>
                <a:lnTo>
                  <a:pt x="0" y="56906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6931564" y="4806487"/>
            <a:ext cx="4523825" cy="1298575"/>
          </a:xfrm>
          <a:prstGeom prst="rect">
            <a:avLst/>
          </a:prstGeom>
        </p:spPr>
        <p:txBody>
          <a:bodyPr anchor="t" rtlCol="false" tIns="0" lIns="0" bIns="0" rIns="0">
            <a:spAutoFit/>
          </a:bodyPr>
          <a:lstStyle/>
          <a:p>
            <a:pPr algn="just">
              <a:lnSpc>
                <a:spcPts val="3499"/>
              </a:lnSpc>
            </a:pPr>
            <a:r>
              <a:rPr lang="en-US" sz="2499">
                <a:solidFill>
                  <a:srgbClr val="171250"/>
                </a:solidFill>
                <a:latin typeface="Nunito"/>
                <a:ea typeface="Nunito"/>
                <a:cs typeface="Nunito"/>
                <a:sym typeface="Nunito"/>
              </a:rPr>
              <a:t>S</a:t>
            </a:r>
            <a:r>
              <a:rPr lang="en-US" b="true" sz="2499">
                <a:solidFill>
                  <a:srgbClr val="171250"/>
                </a:solidFill>
                <a:latin typeface="Nunito Bold"/>
                <a:ea typeface="Nunito Bold"/>
                <a:cs typeface="Nunito Bold"/>
                <a:sym typeface="Nunito Bold"/>
              </a:rPr>
              <a:t>ensor Invasif</a:t>
            </a:r>
            <a:r>
              <a:rPr lang="en-US" sz="2499">
                <a:solidFill>
                  <a:srgbClr val="171250"/>
                </a:solidFill>
                <a:latin typeface="Nunito"/>
                <a:ea typeface="Nunito"/>
                <a:cs typeface="Nunito"/>
                <a:sym typeface="Nunito"/>
              </a:rPr>
              <a:t>: Membatasi kebebasan gerak alami tubuh.</a:t>
            </a:r>
          </a:p>
          <a:p>
            <a:pPr algn="l">
              <a:lnSpc>
                <a:spcPts val="3499"/>
              </a:lnSpc>
            </a:pPr>
          </a:p>
        </p:txBody>
      </p:sp>
      <p:sp>
        <p:nvSpPr>
          <p:cNvPr name="TextBox 17" id="17"/>
          <p:cNvSpPr txBox="true"/>
          <p:nvPr/>
        </p:nvSpPr>
        <p:spPr>
          <a:xfrm rot="0">
            <a:off x="6698708" y="3840968"/>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Kendala M</a:t>
            </a:r>
            <a:r>
              <a:rPr lang="en-US" sz="2799" b="true">
                <a:solidFill>
                  <a:srgbClr val="171250"/>
                </a:solidFill>
                <a:latin typeface="Nunito Bold"/>
                <a:ea typeface="Nunito Bold"/>
                <a:cs typeface="Nunito Bold"/>
                <a:sym typeface="Nunito Bold"/>
              </a:rPr>
              <a:t>etode Lab</a:t>
            </a:r>
          </a:p>
        </p:txBody>
      </p:sp>
      <p:sp>
        <p:nvSpPr>
          <p:cNvPr name="TextBox 18" id="18"/>
          <p:cNvSpPr txBox="true"/>
          <p:nvPr/>
        </p:nvSpPr>
        <p:spPr>
          <a:xfrm rot="0">
            <a:off x="6931564" y="6835952"/>
            <a:ext cx="4523825" cy="129857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B</a:t>
            </a:r>
            <a:r>
              <a:rPr lang="en-US" sz="2499" b="true">
                <a:solidFill>
                  <a:srgbClr val="363985"/>
                </a:solidFill>
                <a:latin typeface="Nunito Bold"/>
                <a:ea typeface="Nunito Bold"/>
                <a:cs typeface="Nunito Bold"/>
                <a:sym typeface="Nunito Bold"/>
              </a:rPr>
              <a:t>iaya Tinggi:</a:t>
            </a:r>
            <a:r>
              <a:rPr lang="en-US" sz="2499">
                <a:solidFill>
                  <a:srgbClr val="363985"/>
                </a:solidFill>
                <a:latin typeface="Nunito"/>
                <a:ea typeface="Nunito"/>
                <a:cs typeface="Nunito"/>
                <a:sym typeface="Nunito"/>
              </a:rPr>
              <a:t> Tidak praktis untuk pemakaian harian.</a:t>
            </a:r>
          </a:p>
          <a:p>
            <a:pPr algn="l">
              <a:lnSpc>
                <a:spcPts val="3499"/>
              </a:lnSpc>
            </a:pPr>
          </a:p>
        </p:txBody>
      </p:sp>
      <p:sp>
        <p:nvSpPr>
          <p:cNvPr name="AutoShape 19" id="19"/>
          <p:cNvSpPr/>
          <p:nvPr/>
        </p:nvSpPr>
        <p:spPr>
          <a:xfrm>
            <a:off x="6931564" y="6229395"/>
            <a:ext cx="4489270" cy="0"/>
          </a:xfrm>
          <a:prstGeom prst="line">
            <a:avLst/>
          </a:prstGeom>
          <a:ln cap="rnd" w="57150">
            <a:solidFill>
              <a:srgbClr val="8F2E62"/>
            </a:solidFill>
            <a:prstDash val="solid"/>
            <a:headEnd type="none" len="sm" w="sm"/>
            <a:tailEnd type="none" len="sm" w="sm"/>
          </a:ln>
        </p:spPr>
      </p:sp>
      <p:sp>
        <p:nvSpPr>
          <p:cNvPr name="TextBox 20" id="20"/>
          <p:cNvSpPr txBox="true"/>
          <p:nvPr/>
        </p:nvSpPr>
        <p:spPr>
          <a:xfrm rot="0">
            <a:off x="639563" y="1273508"/>
            <a:ext cx="12719767" cy="863600"/>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Intro Rust"/>
                <a:ea typeface="Intro Rust"/>
                <a:cs typeface="Intro Rust"/>
                <a:sym typeface="Intro Rust"/>
              </a:rPr>
              <a:t>Latar Belakang &amp; Urgens</a:t>
            </a:r>
            <a:r>
              <a:rPr lang="en-US" sz="5000">
                <a:solidFill>
                  <a:srgbClr val="FFFFFF"/>
                </a:solidFill>
                <a:latin typeface="Intro Rust"/>
                <a:ea typeface="Intro Rust"/>
                <a:cs typeface="Intro Rust"/>
                <a:sym typeface="Intro Rust"/>
              </a:rPr>
              <a:t>i Masalah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Freeform 3" id="3"/>
          <p:cNvSpPr/>
          <p:nvPr/>
        </p:nvSpPr>
        <p:spPr>
          <a:xfrm flipH="false" flipV="false" rot="0">
            <a:off x="639563" y="3076308"/>
            <a:ext cx="5434545" cy="5690623"/>
          </a:xfrm>
          <a:custGeom>
            <a:avLst/>
            <a:gdLst/>
            <a:ahLst/>
            <a:cxnLst/>
            <a:rect r="r" b="b" t="t" l="l"/>
            <a:pathLst>
              <a:path h="5690623" w="5434545">
                <a:moveTo>
                  <a:pt x="0" y="0"/>
                </a:moveTo>
                <a:lnTo>
                  <a:pt x="5434546" y="0"/>
                </a:lnTo>
                <a:lnTo>
                  <a:pt x="5434546"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89501" y="3136846"/>
            <a:ext cx="4373287" cy="637060"/>
          </a:xfrm>
          <a:custGeom>
            <a:avLst/>
            <a:gdLst/>
            <a:ahLst/>
            <a:cxnLst/>
            <a:rect r="r" b="b" t="t" l="l"/>
            <a:pathLst>
              <a:path h="637060" w="4373287">
                <a:moveTo>
                  <a:pt x="0" y="0"/>
                </a:moveTo>
                <a:lnTo>
                  <a:pt x="4373286" y="0"/>
                </a:lnTo>
                <a:lnTo>
                  <a:pt x="4373286" y="637060"/>
                </a:lnTo>
                <a:lnTo>
                  <a:pt x="0" y="637060"/>
                </a:lnTo>
                <a:lnTo>
                  <a:pt x="0" y="0"/>
                </a:lnTo>
                <a:close/>
              </a:path>
            </a:pathLst>
          </a:custGeom>
          <a:blipFill>
            <a:blip r:embed="rId5"/>
            <a:stretch>
              <a:fillRect l="0" t="-521066" r="0" b="-65412"/>
            </a:stretch>
          </a:blipFill>
        </p:spPr>
      </p:sp>
      <p:sp>
        <p:nvSpPr>
          <p:cNvPr name="TextBox 5" id="5"/>
          <p:cNvSpPr txBox="true"/>
          <p:nvPr/>
        </p:nvSpPr>
        <p:spPr>
          <a:xfrm rot="0">
            <a:off x="1056788" y="3186136"/>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Rumusan M</a:t>
            </a:r>
            <a:r>
              <a:rPr lang="en-US" sz="2799" b="true">
                <a:solidFill>
                  <a:srgbClr val="171250"/>
                </a:solidFill>
                <a:latin typeface="Nunito Bold"/>
                <a:ea typeface="Nunito Bold"/>
                <a:cs typeface="Nunito Bold"/>
                <a:sym typeface="Nunito Bold"/>
              </a:rPr>
              <a:t>asalah</a:t>
            </a:r>
          </a:p>
        </p:txBody>
      </p:sp>
      <p:sp>
        <p:nvSpPr>
          <p:cNvPr name="AutoShape 6" id="6"/>
          <p:cNvSpPr/>
          <p:nvPr/>
        </p:nvSpPr>
        <p:spPr>
          <a:xfrm>
            <a:off x="914745" y="6860433"/>
            <a:ext cx="4489270" cy="0"/>
          </a:xfrm>
          <a:prstGeom prst="line">
            <a:avLst/>
          </a:prstGeom>
          <a:ln cap="rnd" w="57150">
            <a:solidFill>
              <a:srgbClr val="8F2E62"/>
            </a:solidFill>
            <a:prstDash val="solid"/>
            <a:headEnd type="none" len="sm" w="sm"/>
            <a:tailEnd type="none" len="sm" w="sm"/>
          </a:ln>
        </p:spPr>
      </p:sp>
      <p:sp>
        <p:nvSpPr>
          <p:cNvPr name="Freeform 7" id="7"/>
          <p:cNvSpPr/>
          <p:nvPr/>
        </p:nvSpPr>
        <p:spPr>
          <a:xfrm flipH="false" flipV="false" rot="0">
            <a:off x="12389115" y="3076308"/>
            <a:ext cx="5434545" cy="5690623"/>
          </a:xfrm>
          <a:custGeom>
            <a:avLst/>
            <a:gdLst/>
            <a:ahLst/>
            <a:cxnLst/>
            <a:rect r="r" b="b" t="t" l="l"/>
            <a:pathLst>
              <a:path h="5690623" w="5434545">
                <a:moveTo>
                  <a:pt x="0" y="0"/>
                </a:moveTo>
                <a:lnTo>
                  <a:pt x="5434545" y="0"/>
                </a:lnTo>
                <a:lnTo>
                  <a:pt x="5434545"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a:off x="12806339" y="5361513"/>
            <a:ext cx="4489270" cy="0"/>
          </a:xfrm>
          <a:prstGeom prst="line">
            <a:avLst/>
          </a:prstGeom>
          <a:ln cap="rnd" w="57150">
            <a:solidFill>
              <a:srgbClr val="8F2E62"/>
            </a:solidFill>
            <a:prstDash val="solid"/>
            <a:headEnd type="none" len="sm" w="sm"/>
            <a:tailEnd type="none" len="sm" w="sm"/>
          </a:ln>
        </p:spPr>
      </p:sp>
      <p:sp>
        <p:nvSpPr>
          <p:cNvPr name="Freeform 9" id="9"/>
          <p:cNvSpPr/>
          <p:nvPr/>
        </p:nvSpPr>
        <p:spPr>
          <a:xfrm flipH="false" flipV="false" rot="0">
            <a:off x="6514339" y="3076308"/>
            <a:ext cx="5434545" cy="5690623"/>
          </a:xfrm>
          <a:custGeom>
            <a:avLst/>
            <a:gdLst/>
            <a:ahLst/>
            <a:cxnLst/>
            <a:rect r="r" b="b" t="t" l="l"/>
            <a:pathLst>
              <a:path h="5690623" w="5434545">
                <a:moveTo>
                  <a:pt x="0" y="0"/>
                </a:moveTo>
                <a:lnTo>
                  <a:pt x="5434545" y="0"/>
                </a:lnTo>
                <a:lnTo>
                  <a:pt x="5434545"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0" id="10"/>
          <p:cNvSpPr/>
          <p:nvPr/>
        </p:nvSpPr>
        <p:spPr>
          <a:xfrm>
            <a:off x="6931564" y="5342463"/>
            <a:ext cx="4489270" cy="0"/>
          </a:xfrm>
          <a:prstGeom prst="line">
            <a:avLst/>
          </a:prstGeom>
          <a:ln cap="rnd" w="57150">
            <a:solidFill>
              <a:srgbClr val="8F2E62"/>
            </a:solidFill>
            <a:prstDash val="solid"/>
            <a:headEnd type="none" len="sm" w="sm"/>
            <a:tailEnd type="none" len="sm" w="sm"/>
          </a:ln>
        </p:spPr>
      </p:sp>
      <p:sp>
        <p:nvSpPr>
          <p:cNvPr name="TextBox 11" id="11"/>
          <p:cNvSpPr txBox="true"/>
          <p:nvPr/>
        </p:nvSpPr>
        <p:spPr>
          <a:xfrm rot="0">
            <a:off x="618144" y="1266202"/>
            <a:ext cx="12719767" cy="863600"/>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Intro Rust"/>
                <a:ea typeface="Intro Rust"/>
                <a:cs typeface="Intro Rust"/>
                <a:sym typeface="Intro Rust"/>
              </a:rPr>
              <a:t>Fokus, Tujuan &amp; Batasan S</a:t>
            </a:r>
            <a:r>
              <a:rPr lang="en-US" sz="5000">
                <a:solidFill>
                  <a:srgbClr val="FFFFFF"/>
                </a:solidFill>
                <a:latin typeface="Intro Rust"/>
                <a:ea typeface="Intro Rust"/>
                <a:cs typeface="Intro Rust"/>
                <a:sym typeface="Intro Rust"/>
              </a:rPr>
              <a:t>istem</a:t>
            </a:r>
          </a:p>
        </p:txBody>
      </p:sp>
      <p:sp>
        <p:nvSpPr>
          <p:cNvPr name="TextBox 12" id="12"/>
          <p:cNvSpPr txBox="true"/>
          <p:nvPr/>
        </p:nvSpPr>
        <p:spPr>
          <a:xfrm rot="0">
            <a:off x="433731" y="468353"/>
            <a:ext cx="6983087" cy="531148"/>
          </a:xfrm>
          <a:prstGeom prst="rect">
            <a:avLst/>
          </a:prstGeom>
        </p:spPr>
        <p:txBody>
          <a:bodyPr anchor="t" rtlCol="false" tIns="0" lIns="0" bIns="0" rIns="0">
            <a:spAutoFit/>
          </a:bodyPr>
          <a:lstStyle/>
          <a:p>
            <a:pPr algn="l">
              <a:lnSpc>
                <a:spcPts val="4380"/>
              </a:lnSpc>
            </a:pPr>
            <a:r>
              <a:rPr lang="en-US" sz="3128">
                <a:solidFill>
                  <a:srgbClr val="FFFFFF"/>
                </a:solidFill>
                <a:latin typeface="Nunito"/>
                <a:ea typeface="Nunito"/>
                <a:cs typeface="Nunito"/>
                <a:sym typeface="Nunito"/>
              </a:rPr>
              <a:t>PENDAHULUAN SISTEM SKELIO</a:t>
            </a:r>
          </a:p>
        </p:txBody>
      </p:sp>
      <p:sp>
        <p:nvSpPr>
          <p:cNvPr name="TextBox 13" id="13"/>
          <p:cNvSpPr txBox="true"/>
          <p:nvPr/>
        </p:nvSpPr>
        <p:spPr>
          <a:xfrm rot="0">
            <a:off x="914745" y="4213612"/>
            <a:ext cx="4523825"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Ek</a:t>
            </a:r>
            <a:r>
              <a:rPr lang="en-US" sz="2499" b="true">
                <a:solidFill>
                  <a:srgbClr val="171250"/>
                </a:solidFill>
                <a:latin typeface="Nunito Bold"/>
                <a:ea typeface="Nunito Bold"/>
                <a:cs typeface="Nunito Bold"/>
                <a:sym typeface="Nunito Bold"/>
              </a:rPr>
              <a:t>straksi Stabil: </a:t>
            </a:r>
            <a:r>
              <a:rPr lang="en-US" sz="2499">
                <a:solidFill>
                  <a:srgbClr val="171250"/>
                </a:solidFill>
                <a:latin typeface="Nunito"/>
                <a:ea typeface="Nunito"/>
                <a:cs typeface="Nunito"/>
                <a:sym typeface="Nunito"/>
              </a:rPr>
              <a:t>Integrasi model dan peredam getaran.</a:t>
            </a:r>
          </a:p>
        </p:txBody>
      </p:sp>
      <p:sp>
        <p:nvSpPr>
          <p:cNvPr name="TextBox 14" id="14"/>
          <p:cNvSpPr txBox="true"/>
          <p:nvPr/>
        </p:nvSpPr>
        <p:spPr>
          <a:xfrm rot="0">
            <a:off x="1056788" y="7108403"/>
            <a:ext cx="4523825" cy="129857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Perform</a:t>
            </a:r>
            <a:r>
              <a:rPr lang="en-US" sz="2499" b="true">
                <a:solidFill>
                  <a:srgbClr val="363985"/>
                </a:solidFill>
                <a:latin typeface="Nunito Bold"/>
                <a:ea typeface="Nunito Bold"/>
                <a:cs typeface="Nunito Bold"/>
                <a:sym typeface="Nunito Bold"/>
              </a:rPr>
              <a:t>a Nyata: </a:t>
            </a:r>
            <a:r>
              <a:rPr lang="en-US" sz="2499">
                <a:solidFill>
                  <a:srgbClr val="363985"/>
                </a:solidFill>
                <a:latin typeface="Nunito"/>
                <a:ea typeface="Nunito"/>
                <a:cs typeface="Nunito"/>
                <a:sym typeface="Nunito"/>
              </a:rPr>
              <a:t>Evaluasi akurasi dan kecepatan komputasi.</a:t>
            </a:r>
          </a:p>
        </p:txBody>
      </p:sp>
      <p:sp>
        <p:nvSpPr>
          <p:cNvPr name="TextBox 15" id="15"/>
          <p:cNvSpPr txBox="true"/>
          <p:nvPr/>
        </p:nvSpPr>
        <p:spPr>
          <a:xfrm rot="0">
            <a:off x="12806339" y="4283075"/>
            <a:ext cx="4523825"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G</a:t>
            </a:r>
            <a:r>
              <a:rPr lang="en-US" sz="2499" b="true">
                <a:solidFill>
                  <a:srgbClr val="171250"/>
                </a:solidFill>
                <a:latin typeface="Nunito Bold"/>
                <a:ea typeface="Nunito Bold"/>
                <a:cs typeface="Nunito Bold"/>
                <a:sym typeface="Nunito Bold"/>
              </a:rPr>
              <a:t>erakan Kalistenik: </a:t>
            </a:r>
            <a:r>
              <a:rPr lang="en-US" sz="2499">
                <a:solidFill>
                  <a:srgbClr val="171250"/>
                </a:solidFill>
                <a:latin typeface="Nunito"/>
                <a:ea typeface="Nunito"/>
                <a:cs typeface="Nunito"/>
                <a:sym typeface="Nunito"/>
              </a:rPr>
              <a:t>Khusus push-up, squat, dan sit-up.</a:t>
            </a:r>
          </a:p>
        </p:txBody>
      </p:sp>
      <p:sp>
        <p:nvSpPr>
          <p:cNvPr name="TextBox 16" id="16"/>
          <p:cNvSpPr txBox="true"/>
          <p:nvPr/>
        </p:nvSpPr>
        <p:spPr>
          <a:xfrm rot="0">
            <a:off x="12806339" y="7213178"/>
            <a:ext cx="4523825" cy="86042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Targe</a:t>
            </a:r>
            <a:r>
              <a:rPr lang="en-US" sz="2499" b="true">
                <a:solidFill>
                  <a:srgbClr val="363985"/>
                </a:solidFill>
                <a:latin typeface="Nunito Bold"/>
                <a:ea typeface="Nunito Bold"/>
                <a:cs typeface="Nunito Bold"/>
                <a:sym typeface="Nunito Bold"/>
              </a:rPr>
              <a:t>t Komputasi: </a:t>
            </a:r>
            <a:r>
              <a:rPr lang="en-US" sz="2499">
                <a:solidFill>
                  <a:srgbClr val="363985"/>
                </a:solidFill>
                <a:latin typeface="Nunito"/>
                <a:ea typeface="Nunito"/>
                <a:cs typeface="Nunito"/>
                <a:sym typeface="Nunito"/>
              </a:rPr>
              <a:t>Pemrosesan hingga maksimal 45 FPS.</a:t>
            </a:r>
          </a:p>
        </p:txBody>
      </p:sp>
      <p:sp>
        <p:nvSpPr>
          <p:cNvPr name="TextBox 17" id="17"/>
          <p:cNvSpPr txBox="true"/>
          <p:nvPr/>
        </p:nvSpPr>
        <p:spPr>
          <a:xfrm rot="0">
            <a:off x="6931564" y="4213612"/>
            <a:ext cx="4523825"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Pip</a:t>
            </a:r>
            <a:r>
              <a:rPr lang="en-US" sz="2499" b="true">
                <a:solidFill>
                  <a:srgbClr val="171250"/>
                </a:solidFill>
                <a:latin typeface="Nunito Bold"/>
                <a:ea typeface="Nunito Bold"/>
                <a:cs typeface="Nunito Bold"/>
                <a:sym typeface="Nunito Bold"/>
              </a:rPr>
              <a:t>eline Cepat: </a:t>
            </a:r>
            <a:r>
              <a:rPr lang="en-US" sz="2499">
                <a:solidFill>
                  <a:srgbClr val="171250"/>
                </a:solidFill>
                <a:latin typeface="Nunito"/>
                <a:ea typeface="Nunito"/>
                <a:cs typeface="Nunito"/>
                <a:sym typeface="Nunito"/>
              </a:rPr>
              <a:t>Pemrosesan multi-subjek hingga 3 orang.</a:t>
            </a:r>
          </a:p>
        </p:txBody>
      </p:sp>
      <p:sp>
        <p:nvSpPr>
          <p:cNvPr name="TextBox 18" id="18"/>
          <p:cNvSpPr txBox="true"/>
          <p:nvPr/>
        </p:nvSpPr>
        <p:spPr>
          <a:xfrm rot="0">
            <a:off x="6931564" y="7174758"/>
            <a:ext cx="4523825" cy="86042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Uj</a:t>
            </a:r>
            <a:r>
              <a:rPr lang="en-US" sz="2499" b="true">
                <a:solidFill>
                  <a:srgbClr val="363985"/>
                </a:solidFill>
                <a:latin typeface="Nunito Bold"/>
                <a:ea typeface="Nunito Bold"/>
                <a:cs typeface="Nunito Bold"/>
                <a:sym typeface="Nunito Bold"/>
              </a:rPr>
              <a:t>i Empiris: </a:t>
            </a:r>
            <a:r>
              <a:rPr lang="en-US" sz="2499">
                <a:solidFill>
                  <a:srgbClr val="363985"/>
                </a:solidFill>
                <a:latin typeface="Nunito"/>
                <a:ea typeface="Nunito"/>
                <a:cs typeface="Nunito"/>
                <a:sym typeface="Nunito"/>
              </a:rPr>
              <a:t>Verifikasi terhadap data acuan manual.</a:t>
            </a:r>
          </a:p>
        </p:txBody>
      </p:sp>
      <p:sp>
        <p:nvSpPr>
          <p:cNvPr name="Freeform 19" id="19"/>
          <p:cNvSpPr/>
          <p:nvPr/>
        </p:nvSpPr>
        <p:spPr>
          <a:xfrm flipH="false" flipV="false" rot="0">
            <a:off x="12644209" y="3123915"/>
            <a:ext cx="4373287" cy="637060"/>
          </a:xfrm>
          <a:custGeom>
            <a:avLst/>
            <a:gdLst/>
            <a:ahLst/>
            <a:cxnLst/>
            <a:rect r="r" b="b" t="t" l="l"/>
            <a:pathLst>
              <a:path h="637060" w="4373287">
                <a:moveTo>
                  <a:pt x="0" y="0"/>
                </a:moveTo>
                <a:lnTo>
                  <a:pt x="4373287" y="0"/>
                </a:lnTo>
                <a:lnTo>
                  <a:pt x="4373287" y="637060"/>
                </a:lnTo>
                <a:lnTo>
                  <a:pt x="0" y="637060"/>
                </a:lnTo>
                <a:lnTo>
                  <a:pt x="0" y="0"/>
                </a:lnTo>
                <a:close/>
              </a:path>
            </a:pathLst>
          </a:custGeom>
          <a:blipFill>
            <a:blip r:embed="rId5"/>
            <a:stretch>
              <a:fillRect l="0" t="-521066" r="0" b="-65412"/>
            </a:stretch>
          </a:blipFill>
        </p:spPr>
      </p:sp>
      <p:sp>
        <p:nvSpPr>
          <p:cNvPr name="TextBox 20" id="20"/>
          <p:cNvSpPr txBox="true"/>
          <p:nvPr/>
        </p:nvSpPr>
        <p:spPr>
          <a:xfrm rot="0">
            <a:off x="12736630" y="3186136"/>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Batasan Pene</a:t>
            </a:r>
            <a:r>
              <a:rPr lang="en-US" sz="2799" b="true">
                <a:solidFill>
                  <a:srgbClr val="171250"/>
                </a:solidFill>
                <a:latin typeface="Nunito Bold"/>
                <a:ea typeface="Nunito Bold"/>
                <a:cs typeface="Nunito Bold"/>
                <a:sym typeface="Nunito Bold"/>
              </a:rPr>
              <a:t>litian</a:t>
            </a:r>
          </a:p>
        </p:txBody>
      </p:sp>
      <p:sp>
        <p:nvSpPr>
          <p:cNvPr name="Freeform 21" id="21"/>
          <p:cNvSpPr/>
          <p:nvPr/>
        </p:nvSpPr>
        <p:spPr>
          <a:xfrm flipH="false" flipV="false" rot="0">
            <a:off x="6765508" y="3136846"/>
            <a:ext cx="4373287" cy="637060"/>
          </a:xfrm>
          <a:custGeom>
            <a:avLst/>
            <a:gdLst/>
            <a:ahLst/>
            <a:cxnLst/>
            <a:rect r="r" b="b" t="t" l="l"/>
            <a:pathLst>
              <a:path h="637060" w="4373287">
                <a:moveTo>
                  <a:pt x="0" y="0"/>
                </a:moveTo>
                <a:lnTo>
                  <a:pt x="4373286" y="0"/>
                </a:lnTo>
                <a:lnTo>
                  <a:pt x="4373286" y="637060"/>
                </a:lnTo>
                <a:lnTo>
                  <a:pt x="0" y="637060"/>
                </a:lnTo>
                <a:lnTo>
                  <a:pt x="0" y="0"/>
                </a:lnTo>
                <a:close/>
              </a:path>
            </a:pathLst>
          </a:custGeom>
          <a:blipFill>
            <a:blip r:embed="rId5"/>
            <a:stretch>
              <a:fillRect l="0" t="-521066" r="0" b="-65412"/>
            </a:stretch>
          </a:blipFill>
        </p:spPr>
      </p:sp>
      <p:sp>
        <p:nvSpPr>
          <p:cNvPr name="TextBox 22" id="22"/>
          <p:cNvSpPr txBox="true"/>
          <p:nvPr/>
        </p:nvSpPr>
        <p:spPr>
          <a:xfrm rot="0">
            <a:off x="6765508" y="3186136"/>
            <a:ext cx="5532972" cy="481330"/>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Tujuan P</a:t>
            </a:r>
            <a:r>
              <a:rPr lang="en-US" sz="2799" b="true">
                <a:solidFill>
                  <a:srgbClr val="171250"/>
                </a:solidFill>
                <a:latin typeface="Nunito Bold"/>
                <a:ea typeface="Nunito Bold"/>
                <a:cs typeface="Nunito Bold"/>
                <a:sym typeface="Nunito Bold"/>
              </a:rPr>
              <a:t>enelitian</a:t>
            </a:r>
          </a:p>
        </p:txBody>
      </p:sp>
      <p:sp>
        <p:nvSpPr>
          <p:cNvPr name="TextBox 23" id="23"/>
          <p:cNvSpPr txBox="true"/>
          <p:nvPr/>
        </p:nvSpPr>
        <p:spPr>
          <a:xfrm rot="0">
            <a:off x="954946" y="5580588"/>
            <a:ext cx="4523825" cy="86042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Hitung</a:t>
            </a:r>
            <a:r>
              <a:rPr lang="en-US" sz="2499" b="true">
                <a:solidFill>
                  <a:srgbClr val="363985"/>
                </a:solidFill>
                <a:latin typeface="Nunito Bold"/>
                <a:ea typeface="Nunito Bold"/>
                <a:cs typeface="Nunito Bold"/>
                <a:sym typeface="Nunito Bold"/>
              </a:rPr>
              <a:t>an Otomatis: </a:t>
            </a:r>
            <a:r>
              <a:rPr lang="en-US" sz="2499">
                <a:solidFill>
                  <a:srgbClr val="363985"/>
                </a:solidFill>
                <a:latin typeface="Nunito"/>
                <a:ea typeface="Nunito"/>
                <a:cs typeface="Nunito"/>
                <a:sym typeface="Nunito"/>
              </a:rPr>
              <a:t>Estimasi sudut dan fase repetisi.</a:t>
            </a:r>
          </a:p>
        </p:txBody>
      </p:sp>
      <p:sp>
        <p:nvSpPr>
          <p:cNvPr name="AutoShape 24" id="24"/>
          <p:cNvSpPr/>
          <p:nvPr/>
        </p:nvSpPr>
        <p:spPr>
          <a:xfrm>
            <a:off x="873518" y="5332938"/>
            <a:ext cx="4489270" cy="0"/>
          </a:xfrm>
          <a:prstGeom prst="line">
            <a:avLst/>
          </a:prstGeom>
          <a:ln cap="rnd" w="57150">
            <a:solidFill>
              <a:srgbClr val="8F2E62"/>
            </a:solidFill>
            <a:prstDash val="solid"/>
            <a:headEnd type="none" len="sm" w="sm"/>
            <a:tailEnd type="none" len="sm" w="sm"/>
          </a:ln>
        </p:spPr>
      </p:sp>
      <p:sp>
        <p:nvSpPr>
          <p:cNvPr name="AutoShape 25" id="25"/>
          <p:cNvSpPr/>
          <p:nvPr/>
        </p:nvSpPr>
        <p:spPr>
          <a:xfrm>
            <a:off x="6899365" y="6860433"/>
            <a:ext cx="4489270" cy="0"/>
          </a:xfrm>
          <a:prstGeom prst="line">
            <a:avLst/>
          </a:prstGeom>
          <a:ln cap="rnd" w="57150">
            <a:solidFill>
              <a:srgbClr val="8F2E62"/>
            </a:solidFill>
            <a:prstDash val="solid"/>
            <a:headEnd type="none" len="sm" w="sm"/>
            <a:tailEnd type="none" len="sm" w="sm"/>
          </a:ln>
        </p:spPr>
      </p:sp>
      <p:sp>
        <p:nvSpPr>
          <p:cNvPr name="TextBox 26" id="26"/>
          <p:cNvSpPr txBox="true"/>
          <p:nvPr/>
        </p:nvSpPr>
        <p:spPr>
          <a:xfrm rot="0">
            <a:off x="6897008" y="5631896"/>
            <a:ext cx="4909369" cy="860425"/>
          </a:xfrm>
          <a:prstGeom prst="rect">
            <a:avLst/>
          </a:prstGeom>
        </p:spPr>
        <p:txBody>
          <a:bodyPr anchor="t" rtlCol="false" tIns="0" lIns="0" bIns="0" rIns="0">
            <a:spAutoFit/>
          </a:bodyPr>
          <a:lstStyle/>
          <a:p>
            <a:pPr algn="l">
              <a:lnSpc>
                <a:spcPts val="3499"/>
              </a:lnSpc>
            </a:pPr>
            <a:r>
              <a:rPr lang="en-US" sz="2499" b="true">
                <a:solidFill>
                  <a:srgbClr val="363985"/>
                </a:solidFill>
                <a:latin typeface="Nunito Bold"/>
                <a:ea typeface="Nunito Bold"/>
                <a:cs typeface="Nunito Bold"/>
                <a:sym typeface="Nunito Bold"/>
              </a:rPr>
              <a:t>Kine</a:t>
            </a:r>
            <a:r>
              <a:rPr lang="en-US" sz="2499" b="true">
                <a:solidFill>
                  <a:srgbClr val="363985"/>
                </a:solidFill>
                <a:latin typeface="Nunito Bold"/>
                <a:ea typeface="Nunito Bold"/>
                <a:cs typeface="Nunito Bold"/>
                <a:sym typeface="Nunito Bold"/>
              </a:rPr>
              <a:t>matika FSM: </a:t>
            </a:r>
            <a:r>
              <a:rPr lang="en-US" sz="2499">
                <a:solidFill>
                  <a:srgbClr val="363985"/>
                </a:solidFill>
                <a:latin typeface="Nunito"/>
                <a:ea typeface="Nunito"/>
                <a:cs typeface="Nunito"/>
                <a:sym typeface="Nunito"/>
              </a:rPr>
              <a:t>Validasi gerakan berbasis geometri sendi</a:t>
            </a:r>
            <a:r>
              <a:rPr lang="en-US" sz="2499" b="true">
                <a:solidFill>
                  <a:srgbClr val="363985"/>
                </a:solidFill>
                <a:latin typeface="Nunito Bold"/>
                <a:ea typeface="Nunito Bold"/>
                <a:cs typeface="Nunito Bold"/>
                <a:sym typeface="Nunito Bold"/>
              </a:rPr>
              <a:t>.</a:t>
            </a:r>
          </a:p>
        </p:txBody>
      </p:sp>
      <p:sp>
        <p:nvSpPr>
          <p:cNvPr name="TextBox 27" id="27"/>
          <p:cNvSpPr txBox="true"/>
          <p:nvPr/>
        </p:nvSpPr>
        <p:spPr>
          <a:xfrm rot="0">
            <a:off x="12844475" y="5631896"/>
            <a:ext cx="4523825"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I</a:t>
            </a:r>
            <a:r>
              <a:rPr lang="en-US" sz="2499" b="true">
                <a:solidFill>
                  <a:srgbClr val="171250"/>
                </a:solidFill>
                <a:latin typeface="Nunito Bold"/>
                <a:ea typeface="Nunito Bold"/>
                <a:cs typeface="Nunito Bold"/>
                <a:sym typeface="Nunito Bold"/>
              </a:rPr>
              <a:t>nput Kamera: </a:t>
            </a:r>
            <a:r>
              <a:rPr lang="en-US" sz="2499">
                <a:solidFill>
                  <a:srgbClr val="171250"/>
                </a:solidFill>
                <a:latin typeface="Nunito"/>
                <a:ea typeface="Nunito"/>
                <a:cs typeface="Nunito"/>
                <a:sym typeface="Nunito"/>
              </a:rPr>
              <a:t>Resolusi 640p bidang pandang samping.</a:t>
            </a:r>
          </a:p>
        </p:txBody>
      </p:sp>
      <p:sp>
        <p:nvSpPr>
          <p:cNvPr name="AutoShape 28" id="28"/>
          <p:cNvSpPr/>
          <p:nvPr/>
        </p:nvSpPr>
        <p:spPr>
          <a:xfrm>
            <a:off x="12777559" y="6876562"/>
            <a:ext cx="4489270" cy="0"/>
          </a:xfrm>
          <a:prstGeom prst="line">
            <a:avLst/>
          </a:prstGeom>
          <a:ln cap="rnd" w="57150">
            <a:solidFill>
              <a:srgbClr val="8F2E62"/>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grpSp>
        <p:nvGrpSpPr>
          <p:cNvPr name="Group 3" id="3"/>
          <p:cNvGrpSpPr/>
          <p:nvPr/>
        </p:nvGrpSpPr>
        <p:grpSpPr>
          <a:xfrm rot="0">
            <a:off x="698291" y="1037114"/>
            <a:ext cx="16929518" cy="8619278"/>
            <a:chOff x="0" y="0"/>
            <a:chExt cx="4274693" cy="2176458"/>
          </a:xfrm>
        </p:grpSpPr>
        <p:sp>
          <p:nvSpPr>
            <p:cNvPr name="Freeform 4" id="4"/>
            <p:cNvSpPr/>
            <p:nvPr/>
          </p:nvSpPr>
          <p:spPr>
            <a:xfrm flipH="false" flipV="false" rot="0">
              <a:off x="0" y="0"/>
              <a:ext cx="4274693" cy="2176458"/>
            </a:xfrm>
            <a:custGeom>
              <a:avLst/>
              <a:gdLst/>
              <a:ahLst/>
              <a:cxnLst/>
              <a:rect r="r" b="b" t="t" l="l"/>
              <a:pathLst>
                <a:path h="2176458" w="4274693">
                  <a:moveTo>
                    <a:pt x="4274693" y="16006"/>
                  </a:moveTo>
                  <a:lnTo>
                    <a:pt x="4274693" y="2160453"/>
                  </a:lnTo>
                  <a:cubicBezTo>
                    <a:pt x="4274693" y="2169292"/>
                    <a:pt x="4267527" y="2176458"/>
                    <a:pt x="4258687" y="2176458"/>
                  </a:cubicBezTo>
                  <a:lnTo>
                    <a:pt x="16006" y="2176458"/>
                  </a:lnTo>
                  <a:cubicBezTo>
                    <a:pt x="7166" y="2176458"/>
                    <a:pt x="0" y="2169292"/>
                    <a:pt x="0" y="2160453"/>
                  </a:cubicBezTo>
                  <a:lnTo>
                    <a:pt x="0" y="16006"/>
                  </a:lnTo>
                  <a:cubicBezTo>
                    <a:pt x="0" y="7166"/>
                    <a:pt x="7166" y="0"/>
                    <a:pt x="16006" y="0"/>
                  </a:cubicBezTo>
                  <a:lnTo>
                    <a:pt x="4258687" y="0"/>
                  </a:lnTo>
                  <a:cubicBezTo>
                    <a:pt x="4267527" y="0"/>
                    <a:pt x="4274693" y="7166"/>
                    <a:pt x="4274693" y="16006"/>
                  </a:cubicBezTo>
                  <a:close/>
                </a:path>
              </a:pathLst>
            </a:custGeom>
            <a:solidFill>
              <a:srgbClr val="FFFFFF"/>
            </a:solidFill>
          </p:spPr>
        </p:sp>
        <p:sp>
          <p:nvSpPr>
            <p:cNvPr name="TextBox 5" id="5"/>
            <p:cNvSpPr txBox="true"/>
            <p:nvPr/>
          </p:nvSpPr>
          <p:spPr>
            <a:xfrm>
              <a:off x="0" y="-38100"/>
              <a:ext cx="4274693" cy="221455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442557" y="4742647"/>
            <a:ext cx="3751184" cy="3751184"/>
          </a:xfrm>
          <a:custGeom>
            <a:avLst/>
            <a:gdLst/>
            <a:ahLst/>
            <a:cxnLst/>
            <a:rect r="r" b="b" t="t" l="l"/>
            <a:pathLst>
              <a:path h="3751184" w="3751184">
                <a:moveTo>
                  <a:pt x="0" y="0"/>
                </a:moveTo>
                <a:lnTo>
                  <a:pt x="3751184" y="0"/>
                </a:lnTo>
                <a:lnTo>
                  <a:pt x="3751184" y="3751183"/>
                </a:lnTo>
                <a:lnTo>
                  <a:pt x="0" y="3751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326458" y="4742647"/>
            <a:ext cx="3751184" cy="3751184"/>
          </a:xfrm>
          <a:custGeom>
            <a:avLst/>
            <a:gdLst/>
            <a:ahLst/>
            <a:cxnLst/>
            <a:rect r="r" b="b" t="t" l="l"/>
            <a:pathLst>
              <a:path h="3751184" w="3751184">
                <a:moveTo>
                  <a:pt x="0" y="0"/>
                </a:moveTo>
                <a:lnTo>
                  <a:pt x="3751184" y="0"/>
                </a:lnTo>
                <a:lnTo>
                  <a:pt x="3751184" y="3751183"/>
                </a:lnTo>
                <a:lnTo>
                  <a:pt x="0" y="3751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5210358" y="4742647"/>
            <a:ext cx="3751184" cy="3751184"/>
          </a:xfrm>
          <a:custGeom>
            <a:avLst/>
            <a:gdLst/>
            <a:ahLst/>
            <a:cxnLst/>
            <a:rect r="r" b="b" t="t" l="l"/>
            <a:pathLst>
              <a:path h="3751184" w="3751184">
                <a:moveTo>
                  <a:pt x="0" y="0"/>
                </a:moveTo>
                <a:lnTo>
                  <a:pt x="3751184" y="0"/>
                </a:lnTo>
                <a:lnTo>
                  <a:pt x="3751184" y="3751183"/>
                </a:lnTo>
                <a:lnTo>
                  <a:pt x="0" y="3751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094259" y="4742647"/>
            <a:ext cx="3751184" cy="3751184"/>
          </a:xfrm>
          <a:custGeom>
            <a:avLst/>
            <a:gdLst/>
            <a:ahLst/>
            <a:cxnLst/>
            <a:rect r="r" b="b" t="t" l="l"/>
            <a:pathLst>
              <a:path h="3751184" w="3751184">
                <a:moveTo>
                  <a:pt x="0" y="0"/>
                </a:moveTo>
                <a:lnTo>
                  <a:pt x="3751184" y="0"/>
                </a:lnTo>
                <a:lnTo>
                  <a:pt x="3751184" y="3751183"/>
                </a:lnTo>
                <a:lnTo>
                  <a:pt x="0" y="37511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930526" y="1370231"/>
            <a:ext cx="15384188" cy="1202221"/>
          </a:xfrm>
          <a:prstGeom prst="rect">
            <a:avLst/>
          </a:prstGeom>
        </p:spPr>
        <p:txBody>
          <a:bodyPr anchor="t" rtlCol="false" tIns="0" lIns="0" bIns="0" rIns="0">
            <a:spAutoFit/>
          </a:bodyPr>
          <a:lstStyle/>
          <a:p>
            <a:pPr algn="l">
              <a:lnSpc>
                <a:spcPts val="9860"/>
              </a:lnSpc>
            </a:pPr>
            <a:r>
              <a:rPr lang="en-US" sz="7043" b="true">
                <a:solidFill>
                  <a:srgbClr val="171250"/>
                </a:solidFill>
                <a:latin typeface="Nunito Bold"/>
                <a:ea typeface="Nunito Bold"/>
                <a:cs typeface="Nunito Bold"/>
                <a:sym typeface="Nunito Bold"/>
              </a:rPr>
              <a:t>Alur Pipelin</a:t>
            </a:r>
            <a:r>
              <a:rPr lang="en-US" sz="7043" b="true">
                <a:solidFill>
                  <a:srgbClr val="171250"/>
                </a:solidFill>
                <a:latin typeface="Nunito Bold"/>
                <a:ea typeface="Nunito Bold"/>
                <a:cs typeface="Nunito Bold"/>
                <a:sym typeface="Nunito Bold"/>
              </a:rPr>
              <a:t>e Komputasi SKELIO</a:t>
            </a:r>
          </a:p>
        </p:txBody>
      </p:sp>
      <p:sp>
        <p:nvSpPr>
          <p:cNvPr name="TextBox 11" id="11"/>
          <p:cNvSpPr txBox="true"/>
          <p:nvPr/>
        </p:nvSpPr>
        <p:spPr>
          <a:xfrm rot="0">
            <a:off x="1201958" y="5490210"/>
            <a:ext cx="3337842" cy="12985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Single-Stage</a:t>
            </a:r>
            <a:r>
              <a:rPr lang="en-US" sz="2499">
                <a:solidFill>
                  <a:srgbClr val="171250"/>
                </a:solidFill>
                <a:latin typeface="Nunito"/>
                <a:ea typeface="Nunito"/>
                <a:cs typeface="Nunito"/>
                <a:sym typeface="Nunito"/>
              </a:rPr>
              <a:t>: Inferensi langsu</a:t>
            </a:r>
            <a:r>
              <a:rPr lang="en-US" sz="2499">
                <a:solidFill>
                  <a:srgbClr val="171250"/>
                </a:solidFill>
                <a:latin typeface="Nunito"/>
                <a:ea typeface="Nunito"/>
                <a:cs typeface="Nunito"/>
                <a:sym typeface="Nunito"/>
              </a:rPr>
              <a:t>ng koordinat sendi.</a:t>
            </a:r>
          </a:p>
        </p:txBody>
      </p:sp>
      <p:sp>
        <p:nvSpPr>
          <p:cNvPr name="TextBox 12" id="12"/>
          <p:cNvSpPr txBox="true"/>
          <p:nvPr/>
        </p:nvSpPr>
        <p:spPr>
          <a:xfrm rot="0">
            <a:off x="2306128" y="4158447"/>
            <a:ext cx="2160945" cy="4222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Tahap 1</a:t>
            </a:r>
          </a:p>
        </p:txBody>
      </p:sp>
      <p:sp>
        <p:nvSpPr>
          <p:cNvPr name="TextBox 13" id="13"/>
          <p:cNvSpPr txBox="true"/>
          <p:nvPr/>
        </p:nvSpPr>
        <p:spPr>
          <a:xfrm rot="0">
            <a:off x="1201958" y="6976180"/>
            <a:ext cx="3337842"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Fitur C2PSA:</a:t>
            </a:r>
            <a:r>
              <a:rPr lang="en-US" sz="2499">
                <a:solidFill>
                  <a:srgbClr val="171250"/>
                </a:solidFill>
                <a:latin typeface="Nunito"/>
                <a:ea typeface="Nunito"/>
                <a:cs typeface="Nunito"/>
                <a:sym typeface="Nunito"/>
              </a:rPr>
              <a:t> T</a:t>
            </a:r>
            <a:r>
              <a:rPr lang="en-US" sz="2499">
                <a:solidFill>
                  <a:srgbClr val="171250"/>
                </a:solidFill>
                <a:latin typeface="Nunito"/>
                <a:ea typeface="Nunito"/>
                <a:cs typeface="Nunito"/>
                <a:sym typeface="Nunito"/>
              </a:rPr>
              <a:t>angani oklusi parsial tubuh.</a:t>
            </a:r>
          </a:p>
        </p:txBody>
      </p:sp>
      <p:sp>
        <p:nvSpPr>
          <p:cNvPr name="TextBox 14" id="14"/>
          <p:cNvSpPr txBox="true"/>
          <p:nvPr/>
        </p:nvSpPr>
        <p:spPr>
          <a:xfrm rot="0">
            <a:off x="1057096" y="3248727"/>
            <a:ext cx="4312493" cy="455295"/>
          </a:xfrm>
          <a:prstGeom prst="rect">
            <a:avLst/>
          </a:prstGeom>
        </p:spPr>
        <p:txBody>
          <a:bodyPr anchor="t" rtlCol="false" tIns="0" lIns="0" bIns="0" rIns="0">
            <a:spAutoFit/>
          </a:bodyPr>
          <a:lstStyle/>
          <a:p>
            <a:pPr algn="l">
              <a:lnSpc>
                <a:spcPts val="3779"/>
              </a:lnSpc>
            </a:pPr>
            <a:r>
              <a:rPr lang="en-US" sz="2699" b="true">
                <a:solidFill>
                  <a:srgbClr val="171250"/>
                </a:solidFill>
                <a:latin typeface="Nunito Bold"/>
                <a:ea typeface="Nunito Bold"/>
                <a:cs typeface="Nunito Bold"/>
                <a:sym typeface="Nunito Bold"/>
              </a:rPr>
              <a:t>KAJIAN TEORETIS</a:t>
            </a:r>
            <a:r>
              <a:rPr lang="en-US" sz="2699" b="true">
                <a:solidFill>
                  <a:srgbClr val="171250"/>
                </a:solidFill>
                <a:latin typeface="Nunito Bold"/>
                <a:ea typeface="Nunito Bold"/>
                <a:cs typeface="Nunito Bold"/>
                <a:sym typeface="Nunito Bold"/>
              </a:rPr>
              <a:t> (BAB II)</a:t>
            </a:r>
          </a:p>
        </p:txBody>
      </p:sp>
      <p:sp>
        <p:nvSpPr>
          <p:cNvPr name="TextBox 15" id="15"/>
          <p:cNvSpPr txBox="true"/>
          <p:nvPr/>
        </p:nvSpPr>
        <p:spPr>
          <a:xfrm rot="0">
            <a:off x="1674293" y="4943528"/>
            <a:ext cx="2591116" cy="422275"/>
          </a:xfrm>
          <a:prstGeom prst="rect">
            <a:avLst/>
          </a:prstGeom>
        </p:spPr>
        <p:txBody>
          <a:bodyPr anchor="t" rtlCol="false" tIns="0" lIns="0" bIns="0" rIns="0">
            <a:spAutoFit/>
          </a:bodyPr>
          <a:lstStyle/>
          <a:p>
            <a:pPr algn="ctr">
              <a:lnSpc>
                <a:spcPts val="3499"/>
              </a:lnSpc>
            </a:pPr>
            <a:r>
              <a:rPr lang="en-US" sz="2499" b="true">
                <a:solidFill>
                  <a:srgbClr val="171250"/>
                </a:solidFill>
                <a:latin typeface="Nunito Bold"/>
                <a:ea typeface="Nunito Bold"/>
                <a:cs typeface="Nunito Bold"/>
                <a:sym typeface="Nunito Bold"/>
              </a:rPr>
              <a:t>YOLOv11-Pose</a:t>
            </a:r>
          </a:p>
        </p:txBody>
      </p:sp>
      <p:sp>
        <p:nvSpPr>
          <p:cNvPr name="TextBox 16" id="16"/>
          <p:cNvSpPr txBox="true"/>
          <p:nvPr/>
        </p:nvSpPr>
        <p:spPr>
          <a:xfrm rot="0">
            <a:off x="5318057" y="5490210"/>
            <a:ext cx="3245585" cy="12985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Asosiasi Ganda:</a:t>
            </a:r>
            <a:r>
              <a:rPr lang="en-US" sz="2499">
                <a:solidFill>
                  <a:srgbClr val="171250"/>
                </a:solidFill>
                <a:latin typeface="Nunito"/>
                <a:ea typeface="Nunito"/>
                <a:cs typeface="Nunito"/>
                <a:sym typeface="Nunito"/>
              </a:rPr>
              <a:t> Pertahankan deteksi s</a:t>
            </a:r>
            <a:r>
              <a:rPr lang="en-US" sz="2499">
                <a:solidFill>
                  <a:srgbClr val="171250"/>
                </a:solidFill>
                <a:latin typeface="Nunito"/>
                <a:ea typeface="Nunito"/>
                <a:cs typeface="Nunito"/>
                <a:sym typeface="Nunito"/>
              </a:rPr>
              <a:t>kor rendah.</a:t>
            </a:r>
          </a:p>
        </p:txBody>
      </p:sp>
      <p:sp>
        <p:nvSpPr>
          <p:cNvPr name="TextBox 17" id="17"/>
          <p:cNvSpPr txBox="true"/>
          <p:nvPr/>
        </p:nvSpPr>
        <p:spPr>
          <a:xfrm rot="0">
            <a:off x="5318057" y="6976180"/>
            <a:ext cx="3245585" cy="12985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Multi-Subjek:</a:t>
            </a:r>
            <a:r>
              <a:rPr lang="en-US" sz="2499">
                <a:solidFill>
                  <a:srgbClr val="171250"/>
                </a:solidFill>
                <a:latin typeface="Nunito"/>
                <a:ea typeface="Nunito"/>
                <a:cs typeface="Nunito"/>
                <a:sym typeface="Nunito"/>
              </a:rPr>
              <a:t> Ko</a:t>
            </a:r>
            <a:r>
              <a:rPr lang="en-US" sz="2499">
                <a:solidFill>
                  <a:srgbClr val="171250"/>
                </a:solidFill>
                <a:latin typeface="Nunito"/>
                <a:ea typeface="Nunito"/>
                <a:cs typeface="Nunito"/>
                <a:sym typeface="Nunito"/>
              </a:rPr>
              <a:t>nsistensi ID hingga 3 orang.</a:t>
            </a:r>
          </a:p>
        </p:txBody>
      </p:sp>
      <p:sp>
        <p:nvSpPr>
          <p:cNvPr name="TextBox 18" id="18"/>
          <p:cNvSpPr txBox="true"/>
          <p:nvPr/>
        </p:nvSpPr>
        <p:spPr>
          <a:xfrm rot="0">
            <a:off x="5838017" y="4943528"/>
            <a:ext cx="2591116" cy="422275"/>
          </a:xfrm>
          <a:prstGeom prst="rect">
            <a:avLst/>
          </a:prstGeom>
        </p:spPr>
        <p:txBody>
          <a:bodyPr anchor="t" rtlCol="false" tIns="0" lIns="0" bIns="0" rIns="0">
            <a:spAutoFit/>
          </a:bodyPr>
          <a:lstStyle/>
          <a:p>
            <a:pPr algn="ctr">
              <a:lnSpc>
                <a:spcPts val="3499"/>
              </a:lnSpc>
            </a:pPr>
            <a:r>
              <a:rPr lang="en-US" sz="2499" b="true">
                <a:solidFill>
                  <a:srgbClr val="171250"/>
                </a:solidFill>
                <a:latin typeface="Nunito Bold"/>
                <a:ea typeface="Nunito Bold"/>
                <a:cs typeface="Nunito Bold"/>
                <a:sym typeface="Nunito Bold"/>
              </a:rPr>
              <a:t>ByteTrack</a:t>
            </a:r>
          </a:p>
        </p:txBody>
      </p:sp>
      <p:sp>
        <p:nvSpPr>
          <p:cNvPr name="TextBox 19" id="19"/>
          <p:cNvSpPr txBox="true"/>
          <p:nvPr/>
        </p:nvSpPr>
        <p:spPr>
          <a:xfrm rot="0">
            <a:off x="9431318" y="5490210"/>
            <a:ext cx="3394752"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Cutoff Adaptif</a:t>
            </a:r>
            <a:r>
              <a:rPr lang="en-US" sz="2499">
                <a:solidFill>
                  <a:srgbClr val="171250"/>
                </a:solidFill>
                <a:latin typeface="Nunito"/>
                <a:ea typeface="Nunito"/>
                <a:cs typeface="Nunito"/>
                <a:sym typeface="Nunito"/>
              </a:rPr>
              <a:t>: Redam jitter saat</a:t>
            </a:r>
            <a:r>
              <a:rPr lang="en-US" sz="2499">
                <a:solidFill>
                  <a:srgbClr val="171250"/>
                </a:solidFill>
                <a:latin typeface="Nunito"/>
                <a:ea typeface="Nunito"/>
                <a:cs typeface="Nunito"/>
                <a:sym typeface="Nunito"/>
              </a:rPr>
              <a:t> posisi statis.</a:t>
            </a:r>
          </a:p>
        </p:txBody>
      </p:sp>
      <p:sp>
        <p:nvSpPr>
          <p:cNvPr name="TextBox 20" id="20"/>
          <p:cNvSpPr txBox="true"/>
          <p:nvPr/>
        </p:nvSpPr>
        <p:spPr>
          <a:xfrm rot="0">
            <a:off x="9431318" y="6976180"/>
            <a:ext cx="3394752"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Bebas Jeda:</a:t>
            </a:r>
            <a:r>
              <a:rPr lang="en-US" sz="2499">
                <a:solidFill>
                  <a:srgbClr val="171250"/>
                </a:solidFill>
                <a:latin typeface="Nunito"/>
                <a:ea typeface="Nunito"/>
                <a:cs typeface="Nunito"/>
                <a:sym typeface="Nunito"/>
              </a:rPr>
              <a:t> Responsif sa</a:t>
            </a:r>
            <a:r>
              <a:rPr lang="en-US" sz="2499">
                <a:solidFill>
                  <a:srgbClr val="171250"/>
                </a:solidFill>
                <a:latin typeface="Nunito"/>
                <a:ea typeface="Nunito"/>
                <a:cs typeface="Nunito"/>
                <a:sym typeface="Nunito"/>
              </a:rPr>
              <a:t>at transisi eksplosif.</a:t>
            </a:r>
          </a:p>
        </p:txBody>
      </p:sp>
      <p:sp>
        <p:nvSpPr>
          <p:cNvPr name="TextBox 21" id="21"/>
          <p:cNvSpPr txBox="true"/>
          <p:nvPr/>
        </p:nvSpPr>
        <p:spPr>
          <a:xfrm rot="0">
            <a:off x="9903653" y="4953053"/>
            <a:ext cx="2591116" cy="422275"/>
          </a:xfrm>
          <a:prstGeom prst="rect">
            <a:avLst/>
          </a:prstGeom>
        </p:spPr>
        <p:txBody>
          <a:bodyPr anchor="t" rtlCol="false" tIns="0" lIns="0" bIns="0" rIns="0">
            <a:spAutoFit/>
          </a:bodyPr>
          <a:lstStyle/>
          <a:p>
            <a:pPr algn="ctr">
              <a:lnSpc>
                <a:spcPts val="3499"/>
              </a:lnSpc>
            </a:pPr>
            <a:r>
              <a:rPr lang="en-US" sz="2499" b="true">
                <a:solidFill>
                  <a:srgbClr val="171250"/>
                </a:solidFill>
                <a:latin typeface="Nunito Bold"/>
                <a:ea typeface="Nunito Bold"/>
                <a:cs typeface="Nunito Bold"/>
                <a:sym typeface="Nunito Bold"/>
              </a:rPr>
              <a:t>One-Euro Filter</a:t>
            </a:r>
          </a:p>
        </p:txBody>
      </p:sp>
      <p:sp>
        <p:nvSpPr>
          <p:cNvPr name="TextBox 22" id="22"/>
          <p:cNvSpPr txBox="true"/>
          <p:nvPr/>
        </p:nvSpPr>
        <p:spPr>
          <a:xfrm rot="0">
            <a:off x="13544580" y="5490210"/>
            <a:ext cx="3451663" cy="12985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Sudut Kosinus: </a:t>
            </a:r>
            <a:r>
              <a:rPr lang="en-US" sz="2499">
                <a:solidFill>
                  <a:srgbClr val="171250"/>
                </a:solidFill>
                <a:latin typeface="Nunito"/>
                <a:ea typeface="Nunito"/>
                <a:cs typeface="Nunito"/>
                <a:sym typeface="Nunito"/>
              </a:rPr>
              <a:t>Evaluasi</a:t>
            </a:r>
            <a:r>
              <a:rPr lang="en-US" sz="2499">
                <a:solidFill>
                  <a:srgbClr val="171250"/>
                </a:solidFill>
                <a:latin typeface="Nunito"/>
                <a:ea typeface="Nunito"/>
                <a:cs typeface="Nunito"/>
                <a:sym typeface="Nunito"/>
              </a:rPr>
              <a:t> artikulasi sagital.</a:t>
            </a:r>
          </a:p>
        </p:txBody>
      </p:sp>
      <p:sp>
        <p:nvSpPr>
          <p:cNvPr name="TextBox 23" id="23"/>
          <p:cNvSpPr txBox="true"/>
          <p:nvPr/>
        </p:nvSpPr>
        <p:spPr>
          <a:xfrm rot="0">
            <a:off x="13544580" y="6976180"/>
            <a:ext cx="3451663" cy="86042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State Machine:</a:t>
            </a:r>
            <a:r>
              <a:rPr lang="en-US" sz="2499">
                <a:solidFill>
                  <a:srgbClr val="171250"/>
                </a:solidFill>
                <a:latin typeface="Nunito"/>
                <a:ea typeface="Nunito"/>
                <a:cs typeface="Nunito"/>
                <a:sym typeface="Nunito"/>
              </a:rPr>
              <a:t> Hitu</a:t>
            </a:r>
            <a:r>
              <a:rPr lang="en-US" sz="2499">
                <a:solidFill>
                  <a:srgbClr val="171250"/>
                </a:solidFill>
                <a:latin typeface="Nunito"/>
                <a:ea typeface="Nunito"/>
                <a:cs typeface="Nunito"/>
                <a:sym typeface="Nunito"/>
              </a:rPr>
              <a:t>ng siklus repetisi valid.</a:t>
            </a:r>
          </a:p>
        </p:txBody>
      </p:sp>
      <p:sp>
        <p:nvSpPr>
          <p:cNvPr name="TextBox 24" id="24"/>
          <p:cNvSpPr txBox="true"/>
          <p:nvPr/>
        </p:nvSpPr>
        <p:spPr>
          <a:xfrm rot="0">
            <a:off x="14016915" y="4962578"/>
            <a:ext cx="2591116" cy="422275"/>
          </a:xfrm>
          <a:prstGeom prst="rect">
            <a:avLst/>
          </a:prstGeom>
        </p:spPr>
        <p:txBody>
          <a:bodyPr anchor="t" rtlCol="false" tIns="0" lIns="0" bIns="0" rIns="0">
            <a:spAutoFit/>
          </a:bodyPr>
          <a:lstStyle/>
          <a:p>
            <a:pPr algn="ctr">
              <a:lnSpc>
                <a:spcPts val="3499"/>
              </a:lnSpc>
            </a:pPr>
            <a:r>
              <a:rPr lang="en-US" sz="2499" b="true">
                <a:solidFill>
                  <a:srgbClr val="171250"/>
                </a:solidFill>
                <a:latin typeface="Nunito Bold"/>
                <a:ea typeface="Nunito Bold"/>
                <a:cs typeface="Nunito Bold"/>
                <a:sym typeface="Nunito Bold"/>
              </a:rPr>
              <a:t>Kinematik &amp; FSM</a:t>
            </a:r>
          </a:p>
        </p:txBody>
      </p:sp>
      <p:sp>
        <p:nvSpPr>
          <p:cNvPr name="TextBox 25" id="25"/>
          <p:cNvSpPr txBox="true"/>
          <p:nvPr/>
        </p:nvSpPr>
        <p:spPr>
          <a:xfrm rot="0">
            <a:off x="6379940" y="4158447"/>
            <a:ext cx="2160945" cy="4222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Tahap 2</a:t>
            </a:r>
          </a:p>
        </p:txBody>
      </p:sp>
      <p:sp>
        <p:nvSpPr>
          <p:cNvPr name="TextBox 26" id="26"/>
          <p:cNvSpPr txBox="true"/>
          <p:nvPr/>
        </p:nvSpPr>
        <p:spPr>
          <a:xfrm rot="0">
            <a:off x="10453753" y="4088596"/>
            <a:ext cx="2160945" cy="4222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Tahap 3</a:t>
            </a:r>
          </a:p>
        </p:txBody>
      </p:sp>
      <p:sp>
        <p:nvSpPr>
          <p:cNvPr name="TextBox 27" id="27"/>
          <p:cNvSpPr txBox="true"/>
          <p:nvPr/>
        </p:nvSpPr>
        <p:spPr>
          <a:xfrm rot="0">
            <a:off x="14567014" y="4088596"/>
            <a:ext cx="2160945" cy="422275"/>
          </a:xfrm>
          <a:prstGeom prst="rect">
            <a:avLst/>
          </a:prstGeom>
        </p:spPr>
        <p:txBody>
          <a:bodyPr anchor="t" rtlCol="false" tIns="0" lIns="0" bIns="0" rIns="0">
            <a:spAutoFit/>
          </a:bodyPr>
          <a:lstStyle/>
          <a:p>
            <a:pPr algn="l">
              <a:lnSpc>
                <a:spcPts val="3499"/>
              </a:lnSpc>
            </a:pPr>
            <a:r>
              <a:rPr lang="en-US" sz="2499" b="true">
                <a:solidFill>
                  <a:srgbClr val="171250"/>
                </a:solidFill>
                <a:latin typeface="Nunito Bold"/>
                <a:ea typeface="Nunito Bold"/>
                <a:cs typeface="Nunito Bold"/>
                <a:sym typeface="Nunito Bold"/>
              </a:rPr>
              <a:t>Tahap 4</a:t>
            </a:r>
          </a:p>
        </p:txBody>
      </p:sp>
    </p:spTree>
  </p:cSld>
  <p:clrMapOvr>
    <a:masterClrMapping/>
  </p:clrMapOvr>
  <p:transition spd="slow">
    <p:circl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grpSp>
        <p:nvGrpSpPr>
          <p:cNvPr name="Group 3" id="3"/>
          <p:cNvGrpSpPr/>
          <p:nvPr/>
        </p:nvGrpSpPr>
        <p:grpSpPr>
          <a:xfrm rot="0">
            <a:off x="698291" y="1037114"/>
            <a:ext cx="16929518" cy="8619278"/>
            <a:chOff x="0" y="0"/>
            <a:chExt cx="4274693" cy="2176458"/>
          </a:xfrm>
        </p:grpSpPr>
        <p:sp>
          <p:nvSpPr>
            <p:cNvPr name="Freeform 4" id="4"/>
            <p:cNvSpPr/>
            <p:nvPr/>
          </p:nvSpPr>
          <p:spPr>
            <a:xfrm flipH="false" flipV="false" rot="0">
              <a:off x="0" y="0"/>
              <a:ext cx="4274693" cy="2176458"/>
            </a:xfrm>
            <a:custGeom>
              <a:avLst/>
              <a:gdLst/>
              <a:ahLst/>
              <a:cxnLst/>
              <a:rect r="r" b="b" t="t" l="l"/>
              <a:pathLst>
                <a:path h="2176458" w="4274693">
                  <a:moveTo>
                    <a:pt x="4274693" y="16006"/>
                  </a:moveTo>
                  <a:lnTo>
                    <a:pt x="4274693" y="2160453"/>
                  </a:lnTo>
                  <a:cubicBezTo>
                    <a:pt x="4274693" y="2169292"/>
                    <a:pt x="4267527" y="2176458"/>
                    <a:pt x="4258687" y="2176458"/>
                  </a:cubicBezTo>
                  <a:lnTo>
                    <a:pt x="16006" y="2176458"/>
                  </a:lnTo>
                  <a:cubicBezTo>
                    <a:pt x="7166" y="2176458"/>
                    <a:pt x="0" y="2169292"/>
                    <a:pt x="0" y="2160453"/>
                  </a:cubicBezTo>
                  <a:lnTo>
                    <a:pt x="0" y="16006"/>
                  </a:lnTo>
                  <a:cubicBezTo>
                    <a:pt x="0" y="7166"/>
                    <a:pt x="7166" y="0"/>
                    <a:pt x="16006" y="0"/>
                  </a:cubicBezTo>
                  <a:lnTo>
                    <a:pt x="4258687" y="0"/>
                  </a:lnTo>
                  <a:cubicBezTo>
                    <a:pt x="4267527" y="0"/>
                    <a:pt x="4274693" y="7166"/>
                    <a:pt x="4274693" y="16006"/>
                  </a:cubicBezTo>
                  <a:close/>
                </a:path>
              </a:pathLst>
            </a:custGeom>
            <a:solidFill>
              <a:srgbClr val="FFFFFF"/>
            </a:solidFill>
          </p:spPr>
        </p:sp>
        <p:sp>
          <p:nvSpPr>
            <p:cNvPr name="TextBox 5" id="5"/>
            <p:cNvSpPr txBox="true"/>
            <p:nvPr/>
          </p:nvSpPr>
          <p:spPr>
            <a:xfrm>
              <a:off x="0" y="-38100"/>
              <a:ext cx="4274693" cy="221455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930526" y="1370231"/>
            <a:ext cx="15384188" cy="1202221"/>
          </a:xfrm>
          <a:prstGeom prst="rect">
            <a:avLst/>
          </a:prstGeom>
        </p:spPr>
        <p:txBody>
          <a:bodyPr anchor="t" rtlCol="false" tIns="0" lIns="0" bIns="0" rIns="0">
            <a:spAutoFit/>
          </a:bodyPr>
          <a:lstStyle/>
          <a:p>
            <a:pPr algn="l">
              <a:lnSpc>
                <a:spcPts val="9860"/>
              </a:lnSpc>
            </a:pPr>
            <a:r>
              <a:rPr lang="en-US" sz="7043" b="true">
                <a:solidFill>
                  <a:srgbClr val="171250"/>
                </a:solidFill>
                <a:latin typeface="Nunito Bold"/>
                <a:ea typeface="Nunito Bold"/>
                <a:cs typeface="Nunito Bold"/>
                <a:sym typeface="Nunito Bold"/>
              </a:rPr>
              <a:t>Penelitian</a:t>
            </a:r>
            <a:r>
              <a:rPr lang="en-US" sz="7043" b="true">
                <a:solidFill>
                  <a:srgbClr val="171250"/>
                </a:solidFill>
                <a:latin typeface="Nunito Bold"/>
                <a:ea typeface="Nunito Bold"/>
                <a:cs typeface="Nunito Bold"/>
                <a:sym typeface="Nunito Bold"/>
              </a:rPr>
              <a:t> yang Relevan</a:t>
            </a:r>
          </a:p>
        </p:txBody>
      </p:sp>
      <p:sp>
        <p:nvSpPr>
          <p:cNvPr name="TextBox 7" id="7"/>
          <p:cNvSpPr txBox="true"/>
          <p:nvPr/>
        </p:nvSpPr>
        <p:spPr>
          <a:xfrm rot="0">
            <a:off x="1057096" y="2579201"/>
            <a:ext cx="4312493" cy="455295"/>
          </a:xfrm>
          <a:prstGeom prst="rect">
            <a:avLst/>
          </a:prstGeom>
        </p:spPr>
        <p:txBody>
          <a:bodyPr anchor="t" rtlCol="false" tIns="0" lIns="0" bIns="0" rIns="0">
            <a:spAutoFit/>
          </a:bodyPr>
          <a:lstStyle/>
          <a:p>
            <a:pPr algn="l">
              <a:lnSpc>
                <a:spcPts val="3779"/>
              </a:lnSpc>
            </a:pPr>
            <a:r>
              <a:rPr lang="en-US" sz="2699" b="true">
                <a:solidFill>
                  <a:srgbClr val="171250"/>
                </a:solidFill>
                <a:latin typeface="Nunito Bold"/>
                <a:ea typeface="Nunito Bold"/>
                <a:cs typeface="Nunito Bold"/>
                <a:sym typeface="Nunito Bold"/>
              </a:rPr>
              <a:t>RUJUKAN ILMIAH </a:t>
            </a:r>
            <a:r>
              <a:rPr lang="en-US" sz="2699" b="true">
                <a:solidFill>
                  <a:srgbClr val="171250"/>
                </a:solidFill>
                <a:latin typeface="Nunito Bold"/>
                <a:ea typeface="Nunito Bold"/>
                <a:cs typeface="Nunito Bold"/>
                <a:sym typeface="Nunito Bold"/>
              </a:rPr>
              <a:t>(BAB II)</a:t>
            </a:r>
          </a:p>
        </p:txBody>
      </p:sp>
      <p:grpSp>
        <p:nvGrpSpPr>
          <p:cNvPr name="Group 8" id="8"/>
          <p:cNvGrpSpPr/>
          <p:nvPr/>
        </p:nvGrpSpPr>
        <p:grpSpPr>
          <a:xfrm rot="0">
            <a:off x="1203247" y="3673714"/>
            <a:ext cx="7451232" cy="1393895"/>
            <a:chOff x="0" y="0"/>
            <a:chExt cx="9934976" cy="1858527"/>
          </a:xfrm>
        </p:grpSpPr>
        <p:sp>
          <p:nvSpPr>
            <p:cNvPr name="TextBox 9" id="9"/>
            <p:cNvSpPr txBox="true"/>
            <p:nvPr/>
          </p:nvSpPr>
          <p:spPr>
            <a:xfrm rot="0">
              <a:off x="120263" y="1292089"/>
              <a:ext cx="5421939"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3" tooltip="http://arxiv.org/abs/2410.17725"/>
                </a:rPr>
                <a:t>arxiv.</a:t>
              </a:r>
              <a:r>
                <a:rPr lang="en-US" b="true" sz="2548" u="sng">
                  <a:solidFill>
                    <a:srgbClr val="171250"/>
                  </a:solidFill>
                  <a:latin typeface="Nunito Bold"/>
                  <a:ea typeface="Nunito Bold"/>
                  <a:cs typeface="Nunito Bold"/>
                  <a:sym typeface="Nunito Bold"/>
                  <a:hlinkClick r:id="rId4" tooltip="http://arxiv.org/abs/2410.17725"/>
                </a:rPr>
                <a:t>org/abs/2410.17725</a:t>
              </a:r>
            </a:p>
          </p:txBody>
        </p:sp>
        <p:sp>
          <p:nvSpPr>
            <p:cNvPr name="TextBox 10" id="10"/>
            <p:cNvSpPr txBox="true"/>
            <p:nvPr/>
          </p:nvSpPr>
          <p:spPr>
            <a:xfrm rot="0">
              <a:off x="81663" y="601529"/>
              <a:ext cx="9853314"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Khanam &amp; Hussain: Architectural Enhancements</a:t>
              </a:r>
            </a:p>
          </p:txBody>
        </p:sp>
        <p:sp>
          <p:nvSpPr>
            <p:cNvPr name="TextBox 11" id="11"/>
            <p:cNvSpPr txBox="true"/>
            <p:nvPr/>
          </p:nvSpPr>
          <p:spPr>
            <a:xfrm rot="0">
              <a:off x="0" y="-57150"/>
              <a:ext cx="4661401" cy="566438"/>
            </a:xfrm>
            <a:prstGeom prst="rect">
              <a:avLst/>
            </a:prstGeom>
          </p:spPr>
          <p:txBody>
            <a:bodyPr anchor="t" rtlCol="false" tIns="0" lIns="0" bIns="0" rIns="0">
              <a:spAutoFit/>
            </a:bodyPr>
            <a:lstStyle/>
            <a:p>
              <a:pPr algn="ctr">
                <a:lnSpc>
                  <a:spcPts val="3568"/>
                </a:lnSpc>
              </a:pPr>
              <a:r>
                <a:rPr lang="en-US" sz="2548" b="true">
                  <a:solidFill>
                    <a:srgbClr val="171250"/>
                  </a:solidFill>
                  <a:latin typeface="Nunito Bold"/>
                  <a:ea typeface="Nunito Bold"/>
                  <a:cs typeface="Nunito Bold"/>
                  <a:sym typeface="Nunito Bold"/>
                </a:rPr>
                <a:t>YOLOv11-Pose (2024)</a:t>
              </a:r>
            </a:p>
          </p:txBody>
        </p:sp>
      </p:grpSp>
      <p:grpSp>
        <p:nvGrpSpPr>
          <p:cNvPr name="Group 12" id="12"/>
          <p:cNvGrpSpPr/>
          <p:nvPr/>
        </p:nvGrpSpPr>
        <p:grpSpPr>
          <a:xfrm rot="0">
            <a:off x="1280935" y="5563933"/>
            <a:ext cx="7570922" cy="1349829"/>
            <a:chOff x="0" y="0"/>
            <a:chExt cx="10094562" cy="1799772"/>
          </a:xfrm>
        </p:grpSpPr>
        <p:sp>
          <p:nvSpPr>
            <p:cNvPr name="TextBox 13" id="13"/>
            <p:cNvSpPr txBox="true"/>
            <p:nvPr/>
          </p:nvSpPr>
          <p:spPr>
            <a:xfrm rot="0">
              <a:off x="0" y="1233334"/>
              <a:ext cx="8839626"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5" tooltip="https://doi.org/10.1145/2207676.2208639"/>
                </a:rPr>
                <a:t>doi.</a:t>
              </a:r>
              <a:r>
                <a:rPr lang="en-US" b="true" sz="2548" u="sng">
                  <a:solidFill>
                    <a:srgbClr val="171250"/>
                  </a:solidFill>
                  <a:latin typeface="Nunito Bold"/>
                  <a:ea typeface="Nunito Bold"/>
                  <a:cs typeface="Nunito Bold"/>
                  <a:sym typeface="Nunito Bold"/>
                  <a:hlinkClick r:id="rId6" tooltip="https://doi.org/10.1145/2207676.2208639"/>
                </a:rPr>
                <a:t>org/10.1145/2207676.2208639</a:t>
              </a:r>
            </a:p>
          </p:txBody>
        </p:sp>
        <p:sp>
          <p:nvSpPr>
            <p:cNvPr name="TextBox 14" id="14"/>
            <p:cNvSpPr txBox="true"/>
            <p:nvPr/>
          </p:nvSpPr>
          <p:spPr>
            <a:xfrm rot="0">
              <a:off x="0" y="568670"/>
              <a:ext cx="10094562"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Haberkamp dkk. (2022) &amp; Fukushima dkk. (2024)</a:t>
              </a:r>
            </a:p>
          </p:txBody>
        </p:sp>
        <p:sp>
          <p:nvSpPr>
            <p:cNvPr name="TextBox 15" id="15"/>
            <p:cNvSpPr txBox="true"/>
            <p:nvPr/>
          </p:nvSpPr>
          <p:spPr>
            <a:xfrm rot="0">
              <a:off x="21921" y="-57150"/>
              <a:ext cx="8921289"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Validasi AI vs MoCap (2022 &amp; 2024)</a:t>
              </a:r>
            </a:p>
          </p:txBody>
        </p:sp>
      </p:grpSp>
      <p:grpSp>
        <p:nvGrpSpPr>
          <p:cNvPr name="Group 16" id="16"/>
          <p:cNvGrpSpPr/>
          <p:nvPr/>
        </p:nvGrpSpPr>
        <p:grpSpPr>
          <a:xfrm rot="0">
            <a:off x="1293689" y="7409022"/>
            <a:ext cx="7570922" cy="1349829"/>
            <a:chOff x="0" y="0"/>
            <a:chExt cx="10094562" cy="1799772"/>
          </a:xfrm>
        </p:grpSpPr>
        <p:sp>
          <p:nvSpPr>
            <p:cNvPr name="TextBox 17" id="17"/>
            <p:cNvSpPr txBox="true"/>
            <p:nvPr/>
          </p:nvSpPr>
          <p:spPr>
            <a:xfrm rot="0">
              <a:off x="0" y="1233334"/>
              <a:ext cx="10094562"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7" tooltip="https://doi.org/10.3390/sports11020162"/>
                </a:rPr>
                <a:t>doi.org/10.3390/sports11020162</a:t>
              </a:r>
            </a:p>
          </p:txBody>
        </p:sp>
        <p:sp>
          <p:nvSpPr>
            <p:cNvPr name="TextBox 18" id="18"/>
            <p:cNvSpPr txBox="true"/>
            <p:nvPr/>
          </p:nvSpPr>
          <p:spPr>
            <a:xfrm rot="0">
              <a:off x="0" y="568670"/>
              <a:ext cx="10094562"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Sousa dkk.: Movement Description Language</a:t>
              </a:r>
            </a:p>
          </p:txBody>
        </p:sp>
        <p:sp>
          <p:nvSpPr>
            <p:cNvPr name="TextBox 19" id="19"/>
            <p:cNvSpPr txBox="true"/>
            <p:nvPr/>
          </p:nvSpPr>
          <p:spPr>
            <a:xfrm rot="0">
              <a:off x="21921" y="-57150"/>
              <a:ext cx="8921289"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FSM &amp; Exercise Assessment (2024)</a:t>
              </a:r>
            </a:p>
          </p:txBody>
        </p:sp>
      </p:grpSp>
      <p:grpSp>
        <p:nvGrpSpPr>
          <p:cNvPr name="Group 20" id="20"/>
          <p:cNvGrpSpPr/>
          <p:nvPr/>
        </p:nvGrpSpPr>
        <p:grpSpPr>
          <a:xfrm rot="0">
            <a:off x="9415594" y="3673714"/>
            <a:ext cx="7570922" cy="1349829"/>
            <a:chOff x="0" y="0"/>
            <a:chExt cx="10094562" cy="1799772"/>
          </a:xfrm>
        </p:grpSpPr>
        <p:sp>
          <p:nvSpPr>
            <p:cNvPr name="TextBox 21" id="21"/>
            <p:cNvSpPr txBox="true"/>
            <p:nvPr/>
          </p:nvSpPr>
          <p:spPr>
            <a:xfrm rot="0">
              <a:off x="0" y="1233334"/>
              <a:ext cx="10094562"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8" tooltip="https://arxiv.org/abs/2110.06864"/>
                </a:rPr>
                <a:t>arxiv.org/abs/2110.06864</a:t>
              </a:r>
            </a:p>
          </p:txBody>
        </p:sp>
        <p:sp>
          <p:nvSpPr>
            <p:cNvPr name="TextBox 22" id="22"/>
            <p:cNvSpPr txBox="true"/>
            <p:nvPr/>
          </p:nvSpPr>
          <p:spPr>
            <a:xfrm rot="0">
              <a:off x="0" y="568670"/>
              <a:ext cx="10094562"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Zhang dkk.: Associating Every Detection Box</a:t>
              </a:r>
            </a:p>
          </p:txBody>
        </p:sp>
        <p:sp>
          <p:nvSpPr>
            <p:cNvPr name="TextBox 23" id="23"/>
            <p:cNvSpPr txBox="true"/>
            <p:nvPr/>
          </p:nvSpPr>
          <p:spPr>
            <a:xfrm rot="0">
              <a:off x="21921" y="-57150"/>
              <a:ext cx="8921289"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ByteTrack Multi-Object (2022)</a:t>
              </a:r>
            </a:p>
          </p:txBody>
        </p:sp>
      </p:grpSp>
      <p:grpSp>
        <p:nvGrpSpPr>
          <p:cNvPr name="Group 24" id="24"/>
          <p:cNvGrpSpPr/>
          <p:nvPr/>
        </p:nvGrpSpPr>
        <p:grpSpPr>
          <a:xfrm rot="0">
            <a:off x="9415594" y="5563933"/>
            <a:ext cx="7570922" cy="1349829"/>
            <a:chOff x="0" y="0"/>
            <a:chExt cx="10094562" cy="1799772"/>
          </a:xfrm>
        </p:grpSpPr>
        <p:sp>
          <p:nvSpPr>
            <p:cNvPr name="TextBox 25" id="25"/>
            <p:cNvSpPr txBox="true"/>
            <p:nvPr/>
          </p:nvSpPr>
          <p:spPr>
            <a:xfrm rot="0">
              <a:off x="0" y="1233334"/>
              <a:ext cx="10094562"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9" tooltip="https://arxiv.org/abs/2204.06806"/>
                </a:rPr>
                <a:t>arxiv.org/abs/2204.06806</a:t>
              </a:r>
            </a:p>
          </p:txBody>
        </p:sp>
        <p:sp>
          <p:nvSpPr>
            <p:cNvPr name="TextBox 26" id="26"/>
            <p:cNvSpPr txBox="true"/>
            <p:nvPr/>
          </p:nvSpPr>
          <p:spPr>
            <a:xfrm rot="0">
              <a:off x="0" y="568670"/>
              <a:ext cx="10094562"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Maji dkk.: Enhancing YOLO for Pose Estimation</a:t>
              </a:r>
            </a:p>
          </p:txBody>
        </p:sp>
        <p:sp>
          <p:nvSpPr>
            <p:cNvPr name="TextBox 27" id="27"/>
            <p:cNvSpPr txBox="true"/>
            <p:nvPr/>
          </p:nvSpPr>
          <p:spPr>
            <a:xfrm rot="0">
              <a:off x="21921" y="-57150"/>
              <a:ext cx="8921289"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YOLO-Pose Multi-Person (2022)</a:t>
              </a:r>
            </a:p>
          </p:txBody>
        </p:sp>
      </p:grpSp>
      <p:grpSp>
        <p:nvGrpSpPr>
          <p:cNvPr name="Group 28" id="28"/>
          <p:cNvGrpSpPr/>
          <p:nvPr/>
        </p:nvGrpSpPr>
        <p:grpSpPr>
          <a:xfrm rot="0">
            <a:off x="9415594" y="7454151"/>
            <a:ext cx="7570922" cy="1349829"/>
            <a:chOff x="0" y="0"/>
            <a:chExt cx="10094562" cy="1799772"/>
          </a:xfrm>
        </p:grpSpPr>
        <p:sp>
          <p:nvSpPr>
            <p:cNvPr name="TextBox 29" id="29"/>
            <p:cNvSpPr txBox="true"/>
            <p:nvPr/>
          </p:nvSpPr>
          <p:spPr>
            <a:xfrm rot="0">
              <a:off x="0" y="1233334"/>
              <a:ext cx="10094562" cy="566438"/>
            </a:xfrm>
            <a:prstGeom prst="rect">
              <a:avLst/>
            </a:prstGeom>
          </p:spPr>
          <p:txBody>
            <a:bodyPr anchor="t" rtlCol="false" tIns="0" lIns="0" bIns="0" rIns="0">
              <a:spAutoFit/>
            </a:bodyPr>
            <a:lstStyle/>
            <a:p>
              <a:pPr algn="l">
                <a:lnSpc>
                  <a:spcPts val="3568"/>
                </a:lnSpc>
              </a:pPr>
              <a:r>
                <a:rPr lang="en-US" b="true" sz="2548" u="sng">
                  <a:solidFill>
                    <a:srgbClr val="171250"/>
                  </a:solidFill>
                  <a:latin typeface="Nunito Bold"/>
                  <a:ea typeface="Nunito Bold"/>
                  <a:cs typeface="Nunito Bold"/>
                  <a:sym typeface="Nunito Bold"/>
                  <a:hlinkClick r:id="rId10" tooltip="https://doi.org/10.1371/journal.pcbi.1008935"/>
                </a:rPr>
                <a:t>doi.org/10.1371/journal.pcbi.1008935</a:t>
              </a:r>
            </a:p>
          </p:txBody>
        </p:sp>
        <p:sp>
          <p:nvSpPr>
            <p:cNvPr name="TextBox 30" id="30"/>
            <p:cNvSpPr txBox="true"/>
            <p:nvPr/>
          </p:nvSpPr>
          <p:spPr>
            <a:xfrm rot="0">
              <a:off x="0" y="568670"/>
              <a:ext cx="10094562"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Stenum dkk.: Video-Based Gait &amp; Joint Angles</a:t>
              </a:r>
            </a:p>
          </p:txBody>
        </p:sp>
        <p:sp>
          <p:nvSpPr>
            <p:cNvPr name="TextBox 31" id="31"/>
            <p:cNvSpPr txBox="true"/>
            <p:nvPr/>
          </p:nvSpPr>
          <p:spPr>
            <a:xfrm rot="0">
              <a:off x="21921" y="-57150"/>
              <a:ext cx="8921289" cy="566438"/>
            </a:xfrm>
            <a:prstGeom prst="rect">
              <a:avLst/>
            </a:prstGeom>
          </p:spPr>
          <p:txBody>
            <a:bodyPr anchor="t" rtlCol="false" tIns="0" lIns="0" bIns="0" rIns="0">
              <a:spAutoFit/>
            </a:bodyPr>
            <a:lstStyle/>
            <a:p>
              <a:pPr algn="l">
                <a:lnSpc>
                  <a:spcPts val="3568"/>
                </a:lnSpc>
              </a:pPr>
              <a:r>
                <a:rPr lang="en-US" sz="2548" b="true">
                  <a:solidFill>
                    <a:srgbClr val="171250"/>
                  </a:solidFill>
                  <a:latin typeface="Nunito Bold"/>
                  <a:ea typeface="Nunito Bold"/>
                  <a:cs typeface="Nunito Bold"/>
                  <a:sym typeface="Nunito Bold"/>
                </a:rPr>
                <a:t>2D Kinematics Analysis (2021)</a:t>
              </a:r>
            </a:p>
          </p:txBody>
        </p:sp>
      </p:grpSp>
      <p:sp>
        <p:nvSpPr>
          <p:cNvPr name="AutoShape 32" id="32"/>
          <p:cNvSpPr/>
          <p:nvPr/>
        </p:nvSpPr>
        <p:spPr>
          <a:xfrm flipV="true">
            <a:off x="1293689" y="5346754"/>
            <a:ext cx="7019111" cy="0"/>
          </a:xfrm>
          <a:prstGeom prst="line">
            <a:avLst/>
          </a:prstGeom>
          <a:ln cap="rnd" w="57150">
            <a:solidFill>
              <a:srgbClr val="8F2E62"/>
            </a:solidFill>
            <a:prstDash val="solid"/>
            <a:headEnd type="none" len="sm" w="sm"/>
            <a:tailEnd type="none" len="sm" w="sm"/>
          </a:ln>
        </p:spPr>
      </p:sp>
      <p:sp>
        <p:nvSpPr>
          <p:cNvPr name="AutoShape 33" id="33"/>
          <p:cNvSpPr/>
          <p:nvPr/>
        </p:nvSpPr>
        <p:spPr>
          <a:xfrm>
            <a:off x="1280935" y="7161392"/>
            <a:ext cx="7019111" cy="0"/>
          </a:xfrm>
          <a:prstGeom prst="line">
            <a:avLst/>
          </a:prstGeom>
          <a:ln cap="rnd" w="57150">
            <a:solidFill>
              <a:srgbClr val="8F2E62"/>
            </a:solidFill>
            <a:prstDash val="solid"/>
            <a:headEnd type="none" len="sm" w="sm"/>
            <a:tailEnd type="none" len="sm" w="sm"/>
          </a:ln>
        </p:spPr>
      </p:sp>
      <p:sp>
        <p:nvSpPr>
          <p:cNvPr name="AutoShape 34" id="34"/>
          <p:cNvSpPr/>
          <p:nvPr/>
        </p:nvSpPr>
        <p:spPr>
          <a:xfrm flipV="true">
            <a:off x="1268181" y="8976030"/>
            <a:ext cx="7019111" cy="0"/>
          </a:xfrm>
          <a:prstGeom prst="line">
            <a:avLst/>
          </a:prstGeom>
          <a:ln cap="rnd" w="57150">
            <a:solidFill>
              <a:srgbClr val="8F2E62"/>
            </a:solidFill>
            <a:prstDash val="solid"/>
            <a:headEnd type="none" len="sm" w="sm"/>
            <a:tailEnd type="none" len="sm" w="sm"/>
          </a:ln>
        </p:spPr>
      </p:sp>
      <p:sp>
        <p:nvSpPr>
          <p:cNvPr name="AutoShape 35" id="35"/>
          <p:cNvSpPr/>
          <p:nvPr/>
        </p:nvSpPr>
        <p:spPr>
          <a:xfrm flipV="true">
            <a:off x="9415594" y="5293738"/>
            <a:ext cx="7019111" cy="0"/>
          </a:xfrm>
          <a:prstGeom prst="line">
            <a:avLst/>
          </a:prstGeom>
          <a:ln cap="rnd" w="57150">
            <a:solidFill>
              <a:srgbClr val="8F2E62"/>
            </a:solidFill>
            <a:prstDash val="solid"/>
            <a:headEnd type="none" len="sm" w="sm"/>
            <a:tailEnd type="none" len="sm" w="sm"/>
          </a:ln>
        </p:spPr>
      </p:sp>
      <p:sp>
        <p:nvSpPr>
          <p:cNvPr name="AutoShape 36" id="36"/>
          <p:cNvSpPr/>
          <p:nvPr/>
        </p:nvSpPr>
        <p:spPr>
          <a:xfrm>
            <a:off x="9415594" y="7132817"/>
            <a:ext cx="7019111" cy="0"/>
          </a:xfrm>
          <a:prstGeom prst="line">
            <a:avLst/>
          </a:prstGeom>
          <a:ln cap="rnd" w="57150">
            <a:solidFill>
              <a:srgbClr val="8F2E62"/>
            </a:solidFill>
            <a:prstDash val="solid"/>
            <a:headEnd type="none" len="sm" w="sm"/>
            <a:tailEnd type="none" len="sm" w="sm"/>
          </a:ln>
        </p:spPr>
      </p:sp>
      <p:sp>
        <p:nvSpPr>
          <p:cNvPr name="AutoShape 37" id="37"/>
          <p:cNvSpPr/>
          <p:nvPr/>
        </p:nvSpPr>
        <p:spPr>
          <a:xfrm>
            <a:off x="9415594" y="8971896"/>
            <a:ext cx="7019111" cy="4134"/>
          </a:xfrm>
          <a:prstGeom prst="line">
            <a:avLst/>
          </a:prstGeom>
          <a:ln cap="rnd" w="57150">
            <a:solidFill>
              <a:srgbClr val="8F2E62"/>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AutoShape 3" id="3"/>
          <p:cNvSpPr/>
          <p:nvPr/>
        </p:nvSpPr>
        <p:spPr>
          <a:xfrm>
            <a:off x="3466783" y="1675189"/>
            <a:ext cx="11563504" cy="0"/>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6803484" y="1865689"/>
            <a:ext cx="4681031" cy="1362562"/>
            <a:chOff x="0" y="0"/>
            <a:chExt cx="1103402" cy="321180"/>
          </a:xfrm>
        </p:grpSpPr>
        <p:sp>
          <p:nvSpPr>
            <p:cNvPr name="Freeform 5" id="5"/>
            <p:cNvSpPr/>
            <p:nvPr/>
          </p:nvSpPr>
          <p:spPr>
            <a:xfrm flipH="false" flipV="false" rot="0">
              <a:off x="0" y="0"/>
              <a:ext cx="1103402" cy="321180"/>
            </a:xfrm>
            <a:custGeom>
              <a:avLst/>
              <a:gdLst/>
              <a:ahLst/>
              <a:cxnLst/>
              <a:rect r="r" b="b" t="t" l="l"/>
              <a:pathLst>
                <a:path h="321180" w="1103402">
                  <a:moveTo>
                    <a:pt x="44655" y="0"/>
                  </a:moveTo>
                  <a:lnTo>
                    <a:pt x="1058747" y="0"/>
                  </a:lnTo>
                  <a:cubicBezTo>
                    <a:pt x="1070590" y="0"/>
                    <a:pt x="1081948" y="4705"/>
                    <a:pt x="1090323" y="13079"/>
                  </a:cubicBezTo>
                  <a:cubicBezTo>
                    <a:pt x="1098697" y="21454"/>
                    <a:pt x="1103402" y="32812"/>
                    <a:pt x="1103402" y="44655"/>
                  </a:cubicBezTo>
                  <a:lnTo>
                    <a:pt x="1103402" y="276525"/>
                  </a:lnTo>
                  <a:cubicBezTo>
                    <a:pt x="1103402" y="288368"/>
                    <a:pt x="1098697" y="299726"/>
                    <a:pt x="1090323" y="308101"/>
                  </a:cubicBezTo>
                  <a:cubicBezTo>
                    <a:pt x="1081948" y="316475"/>
                    <a:pt x="1070590" y="321180"/>
                    <a:pt x="1058747" y="321180"/>
                  </a:cubicBezTo>
                  <a:lnTo>
                    <a:pt x="44655" y="321180"/>
                  </a:lnTo>
                  <a:cubicBezTo>
                    <a:pt x="32812" y="321180"/>
                    <a:pt x="21454" y="316475"/>
                    <a:pt x="13079" y="308101"/>
                  </a:cubicBezTo>
                  <a:cubicBezTo>
                    <a:pt x="4705" y="299726"/>
                    <a:pt x="0" y="288368"/>
                    <a:pt x="0" y="276525"/>
                  </a:cubicBezTo>
                  <a:lnTo>
                    <a:pt x="0" y="44655"/>
                  </a:lnTo>
                  <a:cubicBezTo>
                    <a:pt x="0" y="32812"/>
                    <a:pt x="4705" y="21454"/>
                    <a:pt x="13079" y="13079"/>
                  </a:cubicBezTo>
                  <a:cubicBezTo>
                    <a:pt x="21454" y="4705"/>
                    <a:pt x="32812" y="0"/>
                    <a:pt x="44655" y="0"/>
                  </a:cubicBezTo>
                  <a:close/>
                </a:path>
              </a:pathLst>
            </a:custGeom>
            <a:solidFill>
              <a:srgbClr val="FFFFFF"/>
            </a:solidFill>
          </p:spPr>
        </p:sp>
        <p:sp>
          <p:nvSpPr>
            <p:cNvPr name="TextBox 6" id="6"/>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7" id="7"/>
          <p:cNvSpPr txBox="true"/>
          <p:nvPr/>
        </p:nvSpPr>
        <p:spPr>
          <a:xfrm rot="0">
            <a:off x="2958698" y="593931"/>
            <a:ext cx="12579675" cy="894949"/>
          </a:xfrm>
          <a:prstGeom prst="rect">
            <a:avLst/>
          </a:prstGeom>
        </p:spPr>
        <p:txBody>
          <a:bodyPr anchor="t" rtlCol="false" tIns="0" lIns="0" bIns="0" rIns="0">
            <a:spAutoFit/>
          </a:bodyPr>
          <a:lstStyle/>
          <a:p>
            <a:pPr algn="ctr">
              <a:lnSpc>
                <a:spcPts val="7373"/>
              </a:lnSpc>
              <a:spcBef>
                <a:spcPct val="0"/>
              </a:spcBef>
            </a:pPr>
            <a:r>
              <a:rPr lang="en-US" b="true" sz="5267">
                <a:solidFill>
                  <a:srgbClr val="FFFFFF"/>
                </a:solidFill>
                <a:latin typeface="Open Sans Bold"/>
                <a:ea typeface="Open Sans Bold"/>
                <a:cs typeface="Open Sans Bold"/>
                <a:sym typeface="Open Sans Bold"/>
              </a:rPr>
              <a:t>Ker</a:t>
            </a:r>
            <a:r>
              <a:rPr lang="en-US" b="true" sz="5267">
                <a:solidFill>
                  <a:srgbClr val="FFFFFF"/>
                </a:solidFill>
                <a:latin typeface="Open Sans Bold"/>
                <a:ea typeface="Open Sans Bold"/>
                <a:cs typeface="Open Sans Bold"/>
                <a:sym typeface="Open Sans Bold"/>
              </a:rPr>
              <a:t>angka Konseptual</a:t>
            </a:r>
          </a:p>
        </p:txBody>
      </p:sp>
      <p:sp>
        <p:nvSpPr>
          <p:cNvPr name="TextBox 8" id="8"/>
          <p:cNvSpPr txBox="true"/>
          <p:nvPr/>
        </p:nvSpPr>
        <p:spPr>
          <a:xfrm rot="0">
            <a:off x="6981775" y="1945854"/>
            <a:ext cx="4358072" cy="461690"/>
          </a:xfrm>
          <a:prstGeom prst="rect">
            <a:avLst/>
          </a:prstGeom>
        </p:spPr>
        <p:txBody>
          <a:bodyPr anchor="t" rtlCol="false" tIns="0" lIns="0" bIns="0" rIns="0">
            <a:spAutoFit/>
          </a:bodyPr>
          <a:lstStyle/>
          <a:p>
            <a:pPr algn="ctr">
              <a:lnSpc>
                <a:spcPts val="3882"/>
              </a:lnSpc>
              <a:spcBef>
                <a:spcPct val="0"/>
              </a:spcBef>
            </a:pPr>
            <a:r>
              <a:rPr lang="en-US" b="true" sz="2772">
                <a:solidFill>
                  <a:srgbClr val="171250"/>
                </a:solidFill>
                <a:latin typeface="Open Sans Bold"/>
                <a:ea typeface="Open Sans Bold"/>
                <a:cs typeface="Open Sans Bold"/>
                <a:sym typeface="Open Sans Bold"/>
              </a:rPr>
              <a:t>Permasalahan</a:t>
            </a:r>
          </a:p>
        </p:txBody>
      </p:sp>
      <p:sp>
        <p:nvSpPr>
          <p:cNvPr name="TextBox 9" id="9"/>
          <p:cNvSpPr txBox="true"/>
          <p:nvPr/>
        </p:nvSpPr>
        <p:spPr>
          <a:xfrm rot="0">
            <a:off x="6981775" y="2451096"/>
            <a:ext cx="4266597" cy="533147"/>
          </a:xfrm>
          <a:prstGeom prst="rect">
            <a:avLst/>
          </a:prstGeom>
        </p:spPr>
        <p:txBody>
          <a:bodyPr anchor="t" rtlCol="false" tIns="0" lIns="0" bIns="0" rIns="0">
            <a:spAutoFit/>
          </a:bodyPr>
          <a:lstStyle/>
          <a:p>
            <a:pPr algn="just">
              <a:lnSpc>
                <a:spcPts val="2168"/>
              </a:lnSpc>
              <a:spcBef>
                <a:spcPct val="0"/>
              </a:spcBef>
            </a:pPr>
            <a:r>
              <a:rPr lang="en-US" sz="1548">
                <a:solidFill>
                  <a:srgbClr val="171250"/>
                </a:solidFill>
                <a:latin typeface="Open Sans"/>
                <a:ea typeface="Open Sans"/>
                <a:cs typeface="Open Sans"/>
                <a:sym typeface="Open Sans"/>
              </a:rPr>
              <a:t>Kesalahan postur, fluktuasi keypoints, dan inkonsistensi pelacakan.</a:t>
            </a:r>
          </a:p>
        </p:txBody>
      </p:sp>
      <p:grpSp>
        <p:nvGrpSpPr>
          <p:cNvPr name="Group 10" id="10"/>
          <p:cNvGrpSpPr/>
          <p:nvPr/>
        </p:nvGrpSpPr>
        <p:grpSpPr>
          <a:xfrm rot="0">
            <a:off x="6803484" y="3455255"/>
            <a:ext cx="4681031" cy="1362562"/>
            <a:chOff x="0" y="0"/>
            <a:chExt cx="1103402" cy="321180"/>
          </a:xfrm>
        </p:grpSpPr>
        <p:sp>
          <p:nvSpPr>
            <p:cNvPr name="Freeform 11" id="11"/>
            <p:cNvSpPr/>
            <p:nvPr/>
          </p:nvSpPr>
          <p:spPr>
            <a:xfrm flipH="false" flipV="false" rot="0">
              <a:off x="0" y="0"/>
              <a:ext cx="1103402" cy="321180"/>
            </a:xfrm>
            <a:custGeom>
              <a:avLst/>
              <a:gdLst/>
              <a:ahLst/>
              <a:cxnLst/>
              <a:rect r="r" b="b" t="t" l="l"/>
              <a:pathLst>
                <a:path h="321180" w="1103402">
                  <a:moveTo>
                    <a:pt x="44655" y="0"/>
                  </a:moveTo>
                  <a:lnTo>
                    <a:pt x="1058747" y="0"/>
                  </a:lnTo>
                  <a:cubicBezTo>
                    <a:pt x="1070590" y="0"/>
                    <a:pt x="1081948" y="4705"/>
                    <a:pt x="1090323" y="13079"/>
                  </a:cubicBezTo>
                  <a:cubicBezTo>
                    <a:pt x="1098697" y="21454"/>
                    <a:pt x="1103402" y="32812"/>
                    <a:pt x="1103402" y="44655"/>
                  </a:cubicBezTo>
                  <a:lnTo>
                    <a:pt x="1103402" y="276525"/>
                  </a:lnTo>
                  <a:cubicBezTo>
                    <a:pt x="1103402" y="288368"/>
                    <a:pt x="1098697" y="299726"/>
                    <a:pt x="1090323" y="308101"/>
                  </a:cubicBezTo>
                  <a:cubicBezTo>
                    <a:pt x="1081948" y="316475"/>
                    <a:pt x="1070590" y="321180"/>
                    <a:pt x="1058747" y="321180"/>
                  </a:cubicBezTo>
                  <a:lnTo>
                    <a:pt x="44655" y="321180"/>
                  </a:lnTo>
                  <a:cubicBezTo>
                    <a:pt x="32812" y="321180"/>
                    <a:pt x="21454" y="316475"/>
                    <a:pt x="13079" y="308101"/>
                  </a:cubicBezTo>
                  <a:cubicBezTo>
                    <a:pt x="4705" y="299726"/>
                    <a:pt x="0" y="288368"/>
                    <a:pt x="0" y="276525"/>
                  </a:cubicBezTo>
                  <a:lnTo>
                    <a:pt x="0" y="44655"/>
                  </a:lnTo>
                  <a:cubicBezTo>
                    <a:pt x="0" y="32812"/>
                    <a:pt x="4705" y="21454"/>
                    <a:pt x="13079" y="13079"/>
                  </a:cubicBezTo>
                  <a:cubicBezTo>
                    <a:pt x="21454" y="4705"/>
                    <a:pt x="32812" y="0"/>
                    <a:pt x="44655" y="0"/>
                  </a:cubicBezTo>
                  <a:close/>
                </a:path>
              </a:pathLst>
            </a:custGeom>
            <a:solidFill>
              <a:srgbClr val="FFFFFF"/>
            </a:solidFill>
          </p:spPr>
        </p:sp>
        <p:sp>
          <p:nvSpPr>
            <p:cNvPr name="TextBox 12" id="12"/>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13" id="13"/>
          <p:cNvSpPr txBox="true"/>
          <p:nvPr/>
        </p:nvSpPr>
        <p:spPr>
          <a:xfrm rot="0">
            <a:off x="6981775" y="3535419"/>
            <a:ext cx="4358072" cy="461690"/>
          </a:xfrm>
          <a:prstGeom prst="rect">
            <a:avLst/>
          </a:prstGeom>
        </p:spPr>
        <p:txBody>
          <a:bodyPr anchor="t" rtlCol="false" tIns="0" lIns="0" bIns="0" rIns="0">
            <a:spAutoFit/>
          </a:bodyPr>
          <a:lstStyle/>
          <a:p>
            <a:pPr algn="ctr">
              <a:lnSpc>
                <a:spcPts val="3882"/>
              </a:lnSpc>
              <a:spcBef>
                <a:spcPct val="0"/>
              </a:spcBef>
            </a:pPr>
            <a:r>
              <a:rPr lang="en-US" b="true" sz="2772">
                <a:solidFill>
                  <a:srgbClr val="171250"/>
                </a:solidFill>
                <a:latin typeface="Open Sans Bold"/>
                <a:ea typeface="Open Sans Bold"/>
                <a:cs typeface="Open Sans Bold"/>
                <a:sym typeface="Open Sans Bold"/>
              </a:rPr>
              <a:t>Input Sistem</a:t>
            </a:r>
          </a:p>
        </p:txBody>
      </p:sp>
      <p:sp>
        <p:nvSpPr>
          <p:cNvPr name="TextBox 14" id="14"/>
          <p:cNvSpPr txBox="true"/>
          <p:nvPr/>
        </p:nvSpPr>
        <p:spPr>
          <a:xfrm rot="0">
            <a:off x="6981775" y="4040661"/>
            <a:ext cx="4266597" cy="533147"/>
          </a:xfrm>
          <a:prstGeom prst="rect">
            <a:avLst/>
          </a:prstGeom>
        </p:spPr>
        <p:txBody>
          <a:bodyPr anchor="t" rtlCol="false" tIns="0" lIns="0" bIns="0" rIns="0">
            <a:spAutoFit/>
          </a:bodyPr>
          <a:lstStyle/>
          <a:p>
            <a:pPr algn="just">
              <a:lnSpc>
                <a:spcPts val="2168"/>
              </a:lnSpc>
              <a:spcBef>
                <a:spcPct val="0"/>
              </a:spcBef>
            </a:pPr>
            <a:r>
              <a:rPr lang="en-US" sz="1548">
                <a:solidFill>
                  <a:srgbClr val="171250"/>
                </a:solidFill>
                <a:latin typeface="Open Sans"/>
                <a:ea typeface="Open Sans"/>
                <a:cs typeface="Open Sans"/>
                <a:sym typeface="Open Sans"/>
              </a:rPr>
              <a:t>Video gerakan push-up, squat, dan sit-up dari kamera.</a:t>
            </a:r>
          </a:p>
        </p:txBody>
      </p:sp>
      <p:grpSp>
        <p:nvGrpSpPr>
          <p:cNvPr name="Group 15" id="15"/>
          <p:cNvGrpSpPr/>
          <p:nvPr/>
        </p:nvGrpSpPr>
        <p:grpSpPr>
          <a:xfrm rot="0">
            <a:off x="6803484" y="5104271"/>
            <a:ext cx="4681031" cy="1362562"/>
            <a:chOff x="0" y="0"/>
            <a:chExt cx="1103402" cy="321180"/>
          </a:xfrm>
        </p:grpSpPr>
        <p:sp>
          <p:nvSpPr>
            <p:cNvPr name="Freeform 16" id="16"/>
            <p:cNvSpPr/>
            <p:nvPr/>
          </p:nvSpPr>
          <p:spPr>
            <a:xfrm flipH="false" flipV="false" rot="0">
              <a:off x="0" y="0"/>
              <a:ext cx="1103402" cy="321180"/>
            </a:xfrm>
            <a:custGeom>
              <a:avLst/>
              <a:gdLst/>
              <a:ahLst/>
              <a:cxnLst/>
              <a:rect r="r" b="b" t="t" l="l"/>
              <a:pathLst>
                <a:path h="321180" w="1103402">
                  <a:moveTo>
                    <a:pt x="44655" y="0"/>
                  </a:moveTo>
                  <a:lnTo>
                    <a:pt x="1058747" y="0"/>
                  </a:lnTo>
                  <a:cubicBezTo>
                    <a:pt x="1070590" y="0"/>
                    <a:pt x="1081948" y="4705"/>
                    <a:pt x="1090323" y="13079"/>
                  </a:cubicBezTo>
                  <a:cubicBezTo>
                    <a:pt x="1098697" y="21454"/>
                    <a:pt x="1103402" y="32812"/>
                    <a:pt x="1103402" y="44655"/>
                  </a:cubicBezTo>
                  <a:lnTo>
                    <a:pt x="1103402" y="276525"/>
                  </a:lnTo>
                  <a:cubicBezTo>
                    <a:pt x="1103402" y="288368"/>
                    <a:pt x="1098697" y="299726"/>
                    <a:pt x="1090323" y="308101"/>
                  </a:cubicBezTo>
                  <a:cubicBezTo>
                    <a:pt x="1081948" y="316475"/>
                    <a:pt x="1070590" y="321180"/>
                    <a:pt x="1058747" y="321180"/>
                  </a:cubicBezTo>
                  <a:lnTo>
                    <a:pt x="44655" y="321180"/>
                  </a:lnTo>
                  <a:cubicBezTo>
                    <a:pt x="32812" y="321180"/>
                    <a:pt x="21454" y="316475"/>
                    <a:pt x="13079" y="308101"/>
                  </a:cubicBezTo>
                  <a:cubicBezTo>
                    <a:pt x="4705" y="299726"/>
                    <a:pt x="0" y="288368"/>
                    <a:pt x="0" y="276525"/>
                  </a:cubicBezTo>
                  <a:lnTo>
                    <a:pt x="0" y="44655"/>
                  </a:lnTo>
                  <a:cubicBezTo>
                    <a:pt x="0" y="32812"/>
                    <a:pt x="4705" y="21454"/>
                    <a:pt x="13079" y="13079"/>
                  </a:cubicBezTo>
                  <a:cubicBezTo>
                    <a:pt x="21454" y="4705"/>
                    <a:pt x="32812" y="0"/>
                    <a:pt x="44655" y="0"/>
                  </a:cubicBezTo>
                  <a:close/>
                </a:path>
              </a:pathLst>
            </a:custGeom>
            <a:solidFill>
              <a:srgbClr val="FFFFFF"/>
            </a:solidFill>
          </p:spPr>
        </p:sp>
        <p:sp>
          <p:nvSpPr>
            <p:cNvPr name="TextBox 17" id="17"/>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18" id="18"/>
          <p:cNvSpPr txBox="true"/>
          <p:nvPr/>
        </p:nvSpPr>
        <p:spPr>
          <a:xfrm rot="0">
            <a:off x="6992014" y="5689677"/>
            <a:ext cx="4256358" cy="533147"/>
          </a:xfrm>
          <a:prstGeom prst="rect">
            <a:avLst/>
          </a:prstGeom>
        </p:spPr>
        <p:txBody>
          <a:bodyPr anchor="t" rtlCol="false" tIns="0" lIns="0" bIns="0" rIns="0">
            <a:spAutoFit/>
          </a:bodyPr>
          <a:lstStyle/>
          <a:p>
            <a:pPr algn="just">
              <a:lnSpc>
                <a:spcPts val="2168"/>
              </a:lnSpc>
              <a:spcBef>
                <a:spcPct val="0"/>
              </a:spcBef>
            </a:pPr>
            <a:r>
              <a:rPr lang="en-US" sz="1548">
                <a:solidFill>
                  <a:srgbClr val="171250"/>
                </a:solidFill>
                <a:latin typeface="Open Sans"/>
                <a:ea typeface="Open Sans"/>
                <a:cs typeface="Open Sans"/>
                <a:sym typeface="Open Sans"/>
              </a:rPr>
              <a:t>YOLOv11-Pose → ByteTrack → One-Euro Filter.</a:t>
            </a:r>
          </a:p>
        </p:txBody>
      </p:sp>
      <p:sp>
        <p:nvSpPr>
          <p:cNvPr name="TextBox 19" id="19"/>
          <p:cNvSpPr txBox="true"/>
          <p:nvPr/>
        </p:nvSpPr>
        <p:spPr>
          <a:xfrm rot="0">
            <a:off x="6993363" y="5156824"/>
            <a:ext cx="4255009" cy="461690"/>
          </a:xfrm>
          <a:prstGeom prst="rect">
            <a:avLst/>
          </a:prstGeom>
        </p:spPr>
        <p:txBody>
          <a:bodyPr anchor="t" rtlCol="false" tIns="0" lIns="0" bIns="0" rIns="0">
            <a:spAutoFit/>
          </a:bodyPr>
          <a:lstStyle/>
          <a:p>
            <a:pPr algn="ctr">
              <a:lnSpc>
                <a:spcPts val="3882"/>
              </a:lnSpc>
              <a:spcBef>
                <a:spcPct val="0"/>
              </a:spcBef>
            </a:pPr>
            <a:r>
              <a:rPr lang="en-US" b="true" sz="2772">
                <a:solidFill>
                  <a:srgbClr val="171250"/>
                </a:solidFill>
                <a:latin typeface="Open Sans Bold"/>
                <a:ea typeface="Open Sans Bold"/>
                <a:cs typeface="Open Sans Bold"/>
                <a:sym typeface="Open Sans Bold"/>
              </a:rPr>
              <a:t>Pemrosesan AI</a:t>
            </a:r>
          </a:p>
        </p:txBody>
      </p:sp>
      <p:sp>
        <p:nvSpPr>
          <p:cNvPr name="AutoShape 20" id="20"/>
          <p:cNvSpPr/>
          <p:nvPr/>
        </p:nvSpPr>
        <p:spPr>
          <a:xfrm>
            <a:off x="8969833" y="3228252"/>
            <a:ext cx="11193" cy="227003"/>
          </a:xfrm>
          <a:prstGeom prst="line">
            <a:avLst/>
          </a:prstGeom>
          <a:ln cap="flat" w="38100">
            <a:solidFill>
              <a:srgbClr val="FFFFFF"/>
            </a:solidFill>
            <a:prstDash val="solid"/>
            <a:headEnd type="none" len="sm" w="sm"/>
            <a:tailEnd type="triangle" len="med" w="lg"/>
          </a:ln>
        </p:spPr>
      </p:sp>
      <p:sp>
        <p:nvSpPr>
          <p:cNvPr name="AutoShape 21" id="21"/>
          <p:cNvSpPr/>
          <p:nvPr/>
        </p:nvSpPr>
        <p:spPr>
          <a:xfrm>
            <a:off x="8969833" y="4817817"/>
            <a:ext cx="11193" cy="286454"/>
          </a:xfrm>
          <a:prstGeom prst="line">
            <a:avLst/>
          </a:prstGeom>
          <a:ln cap="flat" w="38100">
            <a:solidFill>
              <a:srgbClr val="FFFFFF"/>
            </a:solidFill>
            <a:prstDash val="solid"/>
            <a:headEnd type="none" len="sm" w="sm"/>
            <a:tailEnd type="triangle" len="med" w="lg"/>
          </a:ln>
        </p:spPr>
      </p:sp>
      <p:grpSp>
        <p:nvGrpSpPr>
          <p:cNvPr name="Group 22" id="22"/>
          <p:cNvGrpSpPr/>
          <p:nvPr/>
        </p:nvGrpSpPr>
        <p:grpSpPr>
          <a:xfrm rot="0">
            <a:off x="6803484" y="6691750"/>
            <a:ext cx="4681031" cy="1362562"/>
            <a:chOff x="0" y="0"/>
            <a:chExt cx="1103402" cy="321180"/>
          </a:xfrm>
        </p:grpSpPr>
        <p:sp>
          <p:nvSpPr>
            <p:cNvPr name="Freeform 23" id="23"/>
            <p:cNvSpPr/>
            <p:nvPr/>
          </p:nvSpPr>
          <p:spPr>
            <a:xfrm flipH="false" flipV="false" rot="0">
              <a:off x="0" y="0"/>
              <a:ext cx="1103402" cy="321180"/>
            </a:xfrm>
            <a:custGeom>
              <a:avLst/>
              <a:gdLst/>
              <a:ahLst/>
              <a:cxnLst/>
              <a:rect r="r" b="b" t="t" l="l"/>
              <a:pathLst>
                <a:path h="321180" w="1103402">
                  <a:moveTo>
                    <a:pt x="44655" y="0"/>
                  </a:moveTo>
                  <a:lnTo>
                    <a:pt x="1058747" y="0"/>
                  </a:lnTo>
                  <a:cubicBezTo>
                    <a:pt x="1070590" y="0"/>
                    <a:pt x="1081948" y="4705"/>
                    <a:pt x="1090323" y="13079"/>
                  </a:cubicBezTo>
                  <a:cubicBezTo>
                    <a:pt x="1098697" y="21454"/>
                    <a:pt x="1103402" y="32812"/>
                    <a:pt x="1103402" y="44655"/>
                  </a:cubicBezTo>
                  <a:lnTo>
                    <a:pt x="1103402" y="276525"/>
                  </a:lnTo>
                  <a:cubicBezTo>
                    <a:pt x="1103402" y="288368"/>
                    <a:pt x="1098697" y="299726"/>
                    <a:pt x="1090323" y="308101"/>
                  </a:cubicBezTo>
                  <a:cubicBezTo>
                    <a:pt x="1081948" y="316475"/>
                    <a:pt x="1070590" y="321180"/>
                    <a:pt x="1058747" y="321180"/>
                  </a:cubicBezTo>
                  <a:lnTo>
                    <a:pt x="44655" y="321180"/>
                  </a:lnTo>
                  <a:cubicBezTo>
                    <a:pt x="32812" y="321180"/>
                    <a:pt x="21454" y="316475"/>
                    <a:pt x="13079" y="308101"/>
                  </a:cubicBezTo>
                  <a:cubicBezTo>
                    <a:pt x="4705" y="299726"/>
                    <a:pt x="0" y="288368"/>
                    <a:pt x="0" y="276525"/>
                  </a:cubicBezTo>
                  <a:lnTo>
                    <a:pt x="0" y="44655"/>
                  </a:lnTo>
                  <a:cubicBezTo>
                    <a:pt x="0" y="32812"/>
                    <a:pt x="4705" y="21454"/>
                    <a:pt x="13079" y="13079"/>
                  </a:cubicBezTo>
                  <a:cubicBezTo>
                    <a:pt x="21454" y="4705"/>
                    <a:pt x="32812" y="0"/>
                    <a:pt x="44655" y="0"/>
                  </a:cubicBezTo>
                  <a:close/>
                </a:path>
              </a:pathLst>
            </a:custGeom>
            <a:solidFill>
              <a:srgbClr val="FFFFFF"/>
            </a:solidFill>
          </p:spPr>
        </p:sp>
        <p:sp>
          <p:nvSpPr>
            <p:cNvPr name="TextBox 24" id="24"/>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25" id="25"/>
          <p:cNvSpPr txBox="true"/>
          <p:nvPr/>
        </p:nvSpPr>
        <p:spPr>
          <a:xfrm rot="0">
            <a:off x="6992014" y="7277157"/>
            <a:ext cx="4256358" cy="533147"/>
          </a:xfrm>
          <a:prstGeom prst="rect">
            <a:avLst/>
          </a:prstGeom>
        </p:spPr>
        <p:txBody>
          <a:bodyPr anchor="t" rtlCol="false" tIns="0" lIns="0" bIns="0" rIns="0">
            <a:spAutoFit/>
          </a:bodyPr>
          <a:lstStyle/>
          <a:p>
            <a:pPr algn="just">
              <a:lnSpc>
                <a:spcPts val="2168"/>
              </a:lnSpc>
              <a:spcBef>
                <a:spcPct val="0"/>
              </a:spcBef>
            </a:pPr>
            <a:r>
              <a:rPr lang="en-US" sz="1548">
                <a:solidFill>
                  <a:srgbClr val="171250"/>
                </a:solidFill>
                <a:latin typeface="Open Sans"/>
                <a:ea typeface="Open Sans"/>
                <a:cs typeface="Open Sans"/>
                <a:sym typeface="Open Sans"/>
              </a:rPr>
              <a:t>Perhitungan sudut sendi, evaluasi postur, dan FSM untuk menghitung repetisi.</a:t>
            </a:r>
          </a:p>
        </p:txBody>
      </p:sp>
      <p:sp>
        <p:nvSpPr>
          <p:cNvPr name="TextBox 26" id="26"/>
          <p:cNvSpPr txBox="true"/>
          <p:nvPr/>
        </p:nvSpPr>
        <p:spPr>
          <a:xfrm rot="0">
            <a:off x="6993363" y="6744304"/>
            <a:ext cx="4255009" cy="461690"/>
          </a:xfrm>
          <a:prstGeom prst="rect">
            <a:avLst/>
          </a:prstGeom>
        </p:spPr>
        <p:txBody>
          <a:bodyPr anchor="t" rtlCol="false" tIns="0" lIns="0" bIns="0" rIns="0">
            <a:spAutoFit/>
          </a:bodyPr>
          <a:lstStyle/>
          <a:p>
            <a:pPr algn="ctr">
              <a:lnSpc>
                <a:spcPts val="3882"/>
              </a:lnSpc>
              <a:spcBef>
                <a:spcPct val="0"/>
              </a:spcBef>
            </a:pPr>
            <a:r>
              <a:rPr lang="en-US" b="true" sz="2772">
                <a:solidFill>
                  <a:srgbClr val="171250"/>
                </a:solidFill>
                <a:latin typeface="Open Sans Bold"/>
                <a:ea typeface="Open Sans Bold"/>
                <a:cs typeface="Open Sans Bold"/>
                <a:sym typeface="Open Sans Bold"/>
              </a:rPr>
              <a:t>Analisis Kinematik</a:t>
            </a:r>
          </a:p>
        </p:txBody>
      </p:sp>
      <p:grpSp>
        <p:nvGrpSpPr>
          <p:cNvPr name="Group 27" id="27"/>
          <p:cNvGrpSpPr/>
          <p:nvPr/>
        </p:nvGrpSpPr>
        <p:grpSpPr>
          <a:xfrm rot="0">
            <a:off x="6803484" y="8210025"/>
            <a:ext cx="4681031" cy="1362562"/>
            <a:chOff x="0" y="0"/>
            <a:chExt cx="1103402" cy="321180"/>
          </a:xfrm>
        </p:grpSpPr>
        <p:sp>
          <p:nvSpPr>
            <p:cNvPr name="Freeform 28" id="28"/>
            <p:cNvSpPr/>
            <p:nvPr/>
          </p:nvSpPr>
          <p:spPr>
            <a:xfrm flipH="false" flipV="false" rot="0">
              <a:off x="0" y="0"/>
              <a:ext cx="1103402" cy="321180"/>
            </a:xfrm>
            <a:custGeom>
              <a:avLst/>
              <a:gdLst/>
              <a:ahLst/>
              <a:cxnLst/>
              <a:rect r="r" b="b" t="t" l="l"/>
              <a:pathLst>
                <a:path h="321180" w="1103402">
                  <a:moveTo>
                    <a:pt x="44655" y="0"/>
                  </a:moveTo>
                  <a:lnTo>
                    <a:pt x="1058747" y="0"/>
                  </a:lnTo>
                  <a:cubicBezTo>
                    <a:pt x="1070590" y="0"/>
                    <a:pt x="1081948" y="4705"/>
                    <a:pt x="1090323" y="13079"/>
                  </a:cubicBezTo>
                  <a:cubicBezTo>
                    <a:pt x="1098697" y="21454"/>
                    <a:pt x="1103402" y="32812"/>
                    <a:pt x="1103402" y="44655"/>
                  </a:cubicBezTo>
                  <a:lnTo>
                    <a:pt x="1103402" y="276525"/>
                  </a:lnTo>
                  <a:cubicBezTo>
                    <a:pt x="1103402" y="288368"/>
                    <a:pt x="1098697" y="299726"/>
                    <a:pt x="1090323" y="308101"/>
                  </a:cubicBezTo>
                  <a:cubicBezTo>
                    <a:pt x="1081948" y="316475"/>
                    <a:pt x="1070590" y="321180"/>
                    <a:pt x="1058747" y="321180"/>
                  </a:cubicBezTo>
                  <a:lnTo>
                    <a:pt x="44655" y="321180"/>
                  </a:lnTo>
                  <a:cubicBezTo>
                    <a:pt x="32812" y="321180"/>
                    <a:pt x="21454" y="316475"/>
                    <a:pt x="13079" y="308101"/>
                  </a:cubicBezTo>
                  <a:cubicBezTo>
                    <a:pt x="4705" y="299726"/>
                    <a:pt x="0" y="288368"/>
                    <a:pt x="0" y="276525"/>
                  </a:cubicBezTo>
                  <a:lnTo>
                    <a:pt x="0" y="44655"/>
                  </a:lnTo>
                  <a:cubicBezTo>
                    <a:pt x="0" y="32812"/>
                    <a:pt x="4705" y="21454"/>
                    <a:pt x="13079" y="13079"/>
                  </a:cubicBezTo>
                  <a:cubicBezTo>
                    <a:pt x="21454" y="4705"/>
                    <a:pt x="32812" y="0"/>
                    <a:pt x="44655" y="0"/>
                  </a:cubicBezTo>
                  <a:close/>
                </a:path>
              </a:pathLst>
            </a:custGeom>
            <a:solidFill>
              <a:srgbClr val="FFFFFF"/>
            </a:solidFill>
          </p:spPr>
        </p:sp>
        <p:sp>
          <p:nvSpPr>
            <p:cNvPr name="TextBox 29" id="29"/>
            <p:cNvSpPr txBox="true"/>
            <p:nvPr/>
          </p:nvSpPr>
          <p:spPr>
            <a:xfrm>
              <a:off x="0" y="-47625"/>
              <a:ext cx="1103402" cy="368805"/>
            </a:xfrm>
            <a:prstGeom prst="rect">
              <a:avLst/>
            </a:prstGeom>
          </p:spPr>
          <p:txBody>
            <a:bodyPr anchor="ctr" rtlCol="false" tIns="50800" lIns="50800" bIns="50800" rIns="50800"/>
            <a:lstStyle/>
            <a:p>
              <a:pPr algn="ctr">
                <a:lnSpc>
                  <a:spcPts val="3017"/>
                </a:lnSpc>
              </a:pPr>
            </a:p>
          </p:txBody>
        </p:sp>
      </p:grpSp>
      <p:sp>
        <p:nvSpPr>
          <p:cNvPr name="TextBox 30" id="30"/>
          <p:cNvSpPr txBox="true"/>
          <p:nvPr/>
        </p:nvSpPr>
        <p:spPr>
          <a:xfrm rot="0">
            <a:off x="6993363" y="8686275"/>
            <a:ext cx="4347833" cy="805100"/>
          </a:xfrm>
          <a:prstGeom prst="rect">
            <a:avLst/>
          </a:prstGeom>
        </p:spPr>
        <p:txBody>
          <a:bodyPr anchor="t" rtlCol="false" tIns="0" lIns="0" bIns="0" rIns="0">
            <a:spAutoFit/>
          </a:bodyPr>
          <a:lstStyle/>
          <a:p>
            <a:pPr algn="just">
              <a:lnSpc>
                <a:spcPts val="2168"/>
              </a:lnSpc>
              <a:spcBef>
                <a:spcPct val="0"/>
              </a:spcBef>
            </a:pPr>
            <a:r>
              <a:rPr lang="en-US" sz="1548">
                <a:solidFill>
                  <a:srgbClr val="171250"/>
                </a:solidFill>
                <a:latin typeface="Open Sans"/>
                <a:ea typeface="Open Sans"/>
                <a:cs typeface="Open Sans"/>
                <a:sym typeface="Open Sans"/>
              </a:rPr>
              <a:t>Visualisasi skeleton, status postur, jumlah repetisi, FPS, dan latensi; dibandingkan dengan ground truth.</a:t>
            </a:r>
          </a:p>
        </p:txBody>
      </p:sp>
      <p:sp>
        <p:nvSpPr>
          <p:cNvPr name="TextBox 31" id="31"/>
          <p:cNvSpPr txBox="true"/>
          <p:nvPr/>
        </p:nvSpPr>
        <p:spPr>
          <a:xfrm rot="0">
            <a:off x="6993363" y="8262579"/>
            <a:ext cx="4255009" cy="461690"/>
          </a:xfrm>
          <a:prstGeom prst="rect">
            <a:avLst/>
          </a:prstGeom>
        </p:spPr>
        <p:txBody>
          <a:bodyPr anchor="t" rtlCol="false" tIns="0" lIns="0" bIns="0" rIns="0">
            <a:spAutoFit/>
          </a:bodyPr>
          <a:lstStyle/>
          <a:p>
            <a:pPr algn="ctr">
              <a:lnSpc>
                <a:spcPts val="3882"/>
              </a:lnSpc>
              <a:spcBef>
                <a:spcPct val="0"/>
              </a:spcBef>
            </a:pPr>
            <a:r>
              <a:rPr lang="en-US" b="true" sz="2772">
                <a:solidFill>
                  <a:srgbClr val="171250"/>
                </a:solidFill>
                <a:latin typeface="Open Sans Bold"/>
                <a:ea typeface="Open Sans Bold"/>
                <a:cs typeface="Open Sans Bold"/>
                <a:sym typeface="Open Sans Bold"/>
              </a:rPr>
              <a:t>Keluaran dan Evaluasi</a:t>
            </a:r>
          </a:p>
        </p:txBody>
      </p:sp>
      <p:sp>
        <p:nvSpPr>
          <p:cNvPr name="AutoShape 32" id="32"/>
          <p:cNvSpPr/>
          <p:nvPr/>
        </p:nvSpPr>
        <p:spPr>
          <a:xfrm flipH="true">
            <a:off x="9014127" y="6466833"/>
            <a:ext cx="10497" cy="253962"/>
          </a:xfrm>
          <a:prstGeom prst="line">
            <a:avLst/>
          </a:prstGeom>
          <a:ln cap="flat" w="38100">
            <a:solidFill>
              <a:srgbClr val="FFFFFF"/>
            </a:solidFill>
            <a:prstDash val="solid"/>
            <a:headEnd type="none" len="sm" w="sm"/>
            <a:tailEnd type="triangle" len="med" w="lg"/>
          </a:ln>
        </p:spPr>
      </p:sp>
      <p:sp>
        <p:nvSpPr>
          <p:cNvPr name="AutoShape 33" id="33"/>
          <p:cNvSpPr/>
          <p:nvPr/>
        </p:nvSpPr>
        <p:spPr>
          <a:xfrm flipH="true">
            <a:off x="9014127" y="8054313"/>
            <a:ext cx="0" cy="155712"/>
          </a:xfrm>
          <a:prstGeom prst="line">
            <a:avLst/>
          </a:prstGeom>
          <a:ln cap="flat" w="38100">
            <a:solidFill>
              <a:srgbClr val="FFFFFF"/>
            </a:solidFill>
            <a:prstDash val="solid"/>
            <a:headEnd type="none" len="sm" w="sm"/>
            <a:tailEnd type="triangle" len="med"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Freeform 3" id="3"/>
          <p:cNvSpPr/>
          <p:nvPr/>
        </p:nvSpPr>
        <p:spPr>
          <a:xfrm flipH="false" flipV="false" rot="0">
            <a:off x="639563" y="3076308"/>
            <a:ext cx="5434545" cy="5690623"/>
          </a:xfrm>
          <a:custGeom>
            <a:avLst/>
            <a:gdLst/>
            <a:ahLst/>
            <a:cxnLst/>
            <a:rect r="r" b="b" t="t" l="l"/>
            <a:pathLst>
              <a:path h="5690623" w="5434545">
                <a:moveTo>
                  <a:pt x="0" y="0"/>
                </a:moveTo>
                <a:lnTo>
                  <a:pt x="5434546" y="0"/>
                </a:lnTo>
                <a:lnTo>
                  <a:pt x="5434546"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89501" y="3136846"/>
            <a:ext cx="4373287" cy="637060"/>
          </a:xfrm>
          <a:custGeom>
            <a:avLst/>
            <a:gdLst/>
            <a:ahLst/>
            <a:cxnLst/>
            <a:rect r="r" b="b" t="t" l="l"/>
            <a:pathLst>
              <a:path h="637060" w="4373287">
                <a:moveTo>
                  <a:pt x="0" y="0"/>
                </a:moveTo>
                <a:lnTo>
                  <a:pt x="4373286" y="0"/>
                </a:lnTo>
                <a:lnTo>
                  <a:pt x="4373286" y="637060"/>
                </a:lnTo>
                <a:lnTo>
                  <a:pt x="0" y="637060"/>
                </a:lnTo>
                <a:lnTo>
                  <a:pt x="0" y="0"/>
                </a:lnTo>
                <a:close/>
              </a:path>
            </a:pathLst>
          </a:custGeom>
          <a:blipFill>
            <a:blip r:embed="rId5"/>
            <a:stretch>
              <a:fillRect l="0" t="-521066" r="0" b="-65412"/>
            </a:stretch>
          </a:blipFill>
        </p:spPr>
      </p:sp>
      <p:sp>
        <p:nvSpPr>
          <p:cNvPr name="TextBox 5" id="5"/>
          <p:cNvSpPr txBox="true"/>
          <p:nvPr/>
        </p:nvSpPr>
        <p:spPr>
          <a:xfrm rot="0">
            <a:off x="1056788" y="3186136"/>
            <a:ext cx="4209776" cy="481297"/>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Deteksi Po</a:t>
            </a:r>
            <a:r>
              <a:rPr lang="en-US" sz="2799" b="true">
                <a:solidFill>
                  <a:srgbClr val="171250"/>
                </a:solidFill>
                <a:latin typeface="Nunito Bold"/>
                <a:ea typeface="Nunito Bold"/>
                <a:cs typeface="Nunito Bold"/>
                <a:sym typeface="Nunito Bold"/>
              </a:rPr>
              <a:t>se</a:t>
            </a:r>
          </a:p>
        </p:txBody>
      </p:sp>
      <p:sp>
        <p:nvSpPr>
          <p:cNvPr name="Freeform 6" id="6"/>
          <p:cNvSpPr/>
          <p:nvPr/>
        </p:nvSpPr>
        <p:spPr>
          <a:xfrm flipH="false" flipV="false" rot="0">
            <a:off x="12389115" y="3076308"/>
            <a:ext cx="5434545" cy="5690623"/>
          </a:xfrm>
          <a:custGeom>
            <a:avLst/>
            <a:gdLst/>
            <a:ahLst/>
            <a:cxnLst/>
            <a:rect r="r" b="b" t="t" l="l"/>
            <a:pathLst>
              <a:path h="5690623" w="5434545">
                <a:moveTo>
                  <a:pt x="0" y="0"/>
                </a:moveTo>
                <a:lnTo>
                  <a:pt x="5434545" y="0"/>
                </a:lnTo>
                <a:lnTo>
                  <a:pt x="5434545"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514339" y="3076308"/>
            <a:ext cx="5434545" cy="5690623"/>
          </a:xfrm>
          <a:custGeom>
            <a:avLst/>
            <a:gdLst/>
            <a:ahLst/>
            <a:cxnLst/>
            <a:rect r="r" b="b" t="t" l="l"/>
            <a:pathLst>
              <a:path h="5690623" w="5434545">
                <a:moveTo>
                  <a:pt x="0" y="0"/>
                </a:moveTo>
                <a:lnTo>
                  <a:pt x="5434545" y="0"/>
                </a:lnTo>
                <a:lnTo>
                  <a:pt x="5434545" y="5690624"/>
                </a:lnTo>
                <a:lnTo>
                  <a:pt x="0" y="56906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991810" y="1545925"/>
            <a:ext cx="12719767" cy="863633"/>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Intro Rust"/>
                <a:ea typeface="Intro Rust"/>
                <a:cs typeface="Intro Rust"/>
                <a:sym typeface="Intro Rust"/>
              </a:rPr>
              <a:t>Hipotesis Penelitian</a:t>
            </a:r>
          </a:p>
        </p:txBody>
      </p:sp>
      <p:sp>
        <p:nvSpPr>
          <p:cNvPr name="TextBox 9" id="9"/>
          <p:cNvSpPr txBox="true"/>
          <p:nvPr/>
        </p:nvSpPr>
        <p:spPr>
          <a:xfrm rot="0">
            <a:off x="914745" y="4213612"/>
            <a:ext cx="4523825" cy="2175206"/>
          </a:xfrm>
          <a:prstGeom prst="rect">
            <a:avLst/>
          </a:prstGeom>
        </p:spPr>
        <p:txBody>
          <a:bodyPr anchor="t" rtlCol="false" tIns="0" lIns="0" bIns="0" rIns="0">
            <a:spAutoFit/>
          </a:bodyPr>
          <a:lstStyle/>
          <a:p>
            <a:pPr algn="just">
              <a:lnSpc>
                <a:spcPts val="3499"/>
              </a:lnSpc>
            </a:pPr>
            <a:r>
              <a:rPr lang="en-US" sz="2499" b="true">
                <a:solidFill>
                  <a:srgbClr val="171250"/>
                </a:solidFill>
                <a:latin typeface="Nunito Bold"/>
                <a:ea typeface="Nunito Bold"/>
                <a:cs typeface="Nunito Bold"/>
                <a:sym typeface="Nunito Bold"/>
              </a:rPr>
              <a:t>YOLOv11-Po</a:t>
            </a:r>
            <a:r>
              <a:rPr lang="en-US" b="true" sz="2499">
                <a:solidFill>
                  <a:srgbClr val="171250"/>
                </a:solidFill>
                <a:latin typeface="Nunito Bold"/>
                <a:ea typeface="Nunito Bold"/>
                <a:cs typeface="Nunito Bold"/>
                <a:sym typeface="Nunito Bold"/>
              </a:rPr>
              <a:t>se mampu mendeteksi titik kunci anatomi tubuh pada gerakan push-up, squat, dan sit-up secara real-time.</a:t>
            </a:r>
          </a:p>
        </p:txBody>
      </p:sp>
      <p:sp>
        <p:nvSpPr>
          <p:cNvPr name="TextBox 10" id="10"/>
          <p:cNvSpPr txBox="true"/>
          <p:nvPr/>
        </p:nvSpPr>
        <p:spPr>
          <a:xfrm rot="0">
            <a:off x="12806339" y="4283075"/>
            <a:ext cx="4523825" cy="2175206"/>
          </a:xfrm>
          <a:prstGeom prst="rect">
            <a:avLst/>
          </a:prstGeom>
        </p:spPr>
        <p:txBody>
          <a:bodyPr anchor="t" rtlCol="false" tIns="0" lIns="0" bIns="0" rIns="0">
            <a:spAutoFit/>
          </a:bodyPr>
          <a:lstStyle/>
          <a:p>
            <a:pPr algn="just">
              <a:lnSpc>
                <a:spcPts val="3499"/>
              </a:lnSpc>
            </a:pPr>
            <a:r>
              <a:rPr lang="en-US" sz="2499" b="true">
                <a:solidFill>
                  <a:srgbClr val="171250"/>
                </a:solidFill>
                <a:latin typeface="Nunito Bold"/>
                <a:ea typeface="Nunito Bold"/>
                <a:cs typeface="Nunito Bold"/>
                <a:sym typeface="Nunito Bold"/>
              </a:rPr>
              <a:t>A</a:t>
            </a:r>
            <a:r>
              <a:rPr lang="en-US" b="true" sz="2499">
                <a:solidFill>
                  <a:srgbClr val="171250"/>
                </a:solidFill>
                <a:latin typeface="Nunito Bold"/>
                <a:ea typeface="Nunito Bold"/>
                <a:cs typeface="Nunito Bold"/>
                <a:sym typeface="Nunito Bold"/>
              </a:rPr>
              <a:t>nalisis geometri titik kunci, sudut sendi, dan FSM mampu mendukung evaluasi postur serta penghitungan repetisi secara otomatis.</a:t>
            </a:r>
          </a:p>
        </p:txBody>
      </p:sp>
      <p:sp>
        <p:nvSpPr>
          <p:cNvPr name="TextBox 11" id="11"/>
          <p:cNvSpPr txBox="true"/>
          <p:nvPr/>
        </p:nvSpPr>
        <p:spPr>
          <a:xfrm rot="0">
            <a:off x="6931564" y="4213612"/>
            <a:ext cx="4523825" cy="2175206"/>
          </a:xfrm>
          <a:prstGeom prst="rect">
            <a:avLst/>
          </a:prstGeom>
        </p:spPr>
        <p:txBody>
          <a:bodyPr anchor="t" rtlCol="false" tIns="0" lIns="0" bIns="0" rIns="0">
            <a:spAutoFit/>
          </a:bodyPr>
          <a:lstStyle/>
          <a:p>
            <a:pPr algn="just">
              <a:lnSpc>
                <a:spcPts val="3499"/>
              </a:lnSpc>
            </a:pPr>
            <a:r>
              <a:rPr lang="en-US" sz="2499" b="true">
                <a:solidFill>
                  <a:srgbClr val="171250"/>
                </a:solidFill>
                <a:latin typeface="Nunito Bold"/>
                <a:ea typeface="Nunito Bold"/>
                <a:cs typeface="Nunito Bold"/>
                <a:sym typeface="Nunito Bold"/>
              </a:rPr>
              <a:t>Byt</a:t>
            </a:r>
            <a:r>
              <a:rPr lang="en-US" b="true" sz="2499">
                <a:solidFill>
                  <a:srgbClr val="171250"/>
                </a:solidFill>
                <a:latin typeface="Nunito Bold"/>
                <a:ea typeface="Nunito Bold"/>
                <a:cs typeface="Nunito Bold"/>
                <a:sym typeface="Nunito Bold"/>
              </a:rPr>
              <a:t>eTrack mampu mempertahankan konsistensi identitas subjek antar-frame untuk mendukung analisis gerakan.</a:t>
            </a:r>
          </a:p>
        </p:txBody>
      </p:sp>
      <p:sp>
        <p:nvSpPr>
          <p:cNvPr name="Freeform 12" id="12"/>
          <p:cNvSpPr/>
          <p:nvPr/>
        </p:nvSpPr>
        <p:spPr>
          <a:xfrm flipH="false" flipV="false" rot="0">
            <a:off x="12644209" y="3123915"/>
            <a:ext cx="4373287" cy="637060"/>
          </a:xfrm>
          <a:custGeom>
            <a:avLst/>
            <a:gdLst/>
            <a:ahLst/>
            <a:cxnLst/>
            <a:rect r="r" b="b" t="t" l="l"/>
            <a:pathLst>
              <a:path h="637060" w="4373287">
                <a:moveTo>
                  <a:pt x="0" y="0"/>
                </a:moveTo>
                <a:lnTo>
                  <a:pt x="4373287" y="0"/>
                </a:lnTo>
                <a:lnTo>
                  <a:pt x="4373287" y="637060"/>
                </a:lnTo>
                <a:lnTo>
                  <a:pt x="0" y="637060"/>
                </a:lnTo>
                <a:lnTo>
                  <a:pt x="0" y="0"/>
                </a:lnTo>
                <a:close/>
              </a:path>
            </a:pathLst>
          </a:custGeom>
          <a:blipFill>
            <a:blip r:embed="rId5"/>
            <a:stretch>
              <a:fillRect l="0" t="-521066" r="0" b="-65412"/>
            </a:stretch>
          </a:blipFill>
        </p:spPr>
      </p:sp>
      <p:sp>
        <p:nvSpPr>
          <p:cNvPr name="TextBox 13" id="13"/>
          <p:cNvSpPr txBox="true"/>
          <p:nvPr/>
        </p:nvSpPr>
        <p:spPr>
          <a:xfrm rot="0">
            <a:off x="12736630" y="3186136"/>
            <a:ext cx="5532972" cy="481297"/>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Evaluasi Gerak</a:t>
            </a:r>
            <a:r>
              <a:rPr lang="en-US" sz="2799" b="true">
                <a:solidFill>
                  <a:srgbClr val="171250"/>
                </a:solidFill>
                <a:latin typeface="Nunito Bold"/>
                <a:ea typeface="Nunito Bold"/>
                <a:cs typeface="Nunito Bold"/>
                <a:sym typeface="Nunito Bold"/>
              </a:rPr>
              <a:t>an</a:t>
            </a:r>
          </a:p>
        </p:txBody>
      </p:sp>
      <p:sp>
        <p:nvSpPr>
          <p:cNvPr name="Freeform 14" id="14"/>
          <p:cNvSpPr/>
          <p:nvPr/>
        </p:nvSpPr>
        <p:spPr>
          <a:xfrm flipH="false" flipV="false" rot="0">
            <a:off x="6765508" y="3136846"/>
            <a:ext cx="4373287" cy="637060"/>
          </a:xfrm>
          <a:custGeom>
            <a:avLst/>
            <a:gdLst/>
            <a:ahLst/>
            <a:cxnLst/>
            <a:rect r="r" b="b" t="t" l="l"/>
            <a:pathLst>
              <a:path h="637060" w="4373287">
                <a:moveTo>
                  <a:pt x="0" y="0"/>
                </a:moveTo>
                <a:lnTo>
                  <a:pt x="4373286" y="0"/>
                </a:lnTo>
                <a:lnTo>
                  <a:pt x="4373286" y="637060"/>
                </a:lnTo>
                <a:lnTo>
                  <a:pt x="0" y="637060"/>
                </a:lnTo>
                <a:lnTo>
                  <a:pt x="0" y="0"/>
                </a:lnTo>
                <a:close/>
              </a:path>
            </a:pathLst>
          </a:custGeom>
          <a:blipFill>
            <a:blip r:embed="rId5"/>
            <a:stretch>
              <a:fillRect l="0" t="-521066" r="0" b="-65412"/>
            </a:stretch>
          </a:blipFill>
        </p:spPr>
      </p:sp>
      <p:sp>
        <p:nvSpPr>
          <p:cNvPr name="TextBox 15" id="15"/>
          <p:cNvSpPr txBox="true"/>
          <p:nvPr/>
        </p:nvSpPr>
        <p:spPr>
          <a:xfrm rot="0">
            <a:off x="6765508" y="3186136"/>
            <a:ext cx="4373287" cy="481297"/>
          </a:xfrm>
          <a:prstGeom prst="rect">
            <a:avLst/>
          </a:prstGeom>
        </p:spPr>
        <p:txBody>
          <a:bodyPr anchor="t" rtlCol="false" tIns="0" lIns="0" bIns="0" rIns="0">
            <a:spAutoFit/>
          </a:bodyPr>
          <a:lstStyle/>
          <a:p>
            <a:pPr algn="l">
              <a:lnSpc>
                <a:spcPts val="3919"/>
              </a:lnSpc>
            </a:pPr>
            <a:r>
              <a:rPr lang="en-US" sz="2799" b="true">
                <a:solidFill>
                  <a:srgbClr val="171250"/>
                </a:solidFill>
                <a:latin typeface="Nunito Bold"/>
                <a:ea typeface="Nunito Bold"/>
                <a:cs typeface="Nunito Bold"/>
                <a:sym typeface="Nunito Bold"/>
              </a:rPr>
              <a:t>Pelacakan Id</a:t>
            </a:r>
            <a:r>
              <a:rPr lang="en-US" sz="2799" b="true">
                <a:solidFill>
                  <a:srgbClr val="171250"/>
                </a:solidFill>
                <a:latin typeface="Nunito Bold"/>
                <a:ea typeface="Nunito Bold"/>
                <a:cs typeface="Nunito Bold"/>
                <a:sym typeface="Nunito Bold"/>
              </a:rPr>
              <a:t>entitas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Freeform 3" id="3"/>
          <p:cNvSpPr/>
          <p:nvPr/>
        </p:nvSpPr>
        <p:spPr>
          <a:xfrm flipH="false" flipV="false" rot="0">
            <a:off x="1326593" y="2006952"/>
            <a:ext cx="4645557" cy="2316972"/>
          </a:xfrm>
          <a:custGeom>
            <a:avLst/>
            <a:gdLst/>
            <a:ahLst/>
            <a:cxnLst/>
            <a:rect r="r" b="b" t="t" l="l"/>
            <a:pathLst>
              <a:path h="2316972" w="4645557">
                <a:moveTo>
                  <a:pt x="0" y="0"/>
                </a:moveTo>
                <a:lnTo>
                  <a:pt x="4645557" y="0"/>
                </a:lnTo>
                <a:lnTo>
                  <a:pt x="4645557" y="2316972"/>
                </a:lnTo>
                <a:lnTo>
                  <a:pt x="0" y="23169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384825" y="7104486"/>
            <a:ext cx="4645557" cy="2316972"/>
          </a:xfrm>
          <a:custGeom>
            <a:avLst/>
            <a:gdLst/>
            <a:ahLst/>
            <a:cxnLst/>
            <a:rect r="r" b="b" t="t" l="l"/>
            <a:pathLst>
              <a:path h="2316972" w="4645557">
                <a:moveTo>
                  <a:pt x="0" y="0"/>
                </a:moveTo>
                <a:lnTo>
                  <a:pt x="4645557" y="0"/>
                </a:lnTo>
                <a:lnTo>
                  <a:pt x="4645557" y="2316971"/>
                </a:lnTo>
                <a:lnTo>
                  <a:pt x="0" y="23169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688661" y="4552524"/>
            <a:ext cx="4645557" cy="2316972"/>
          </a:xfrm>
          <a:custGeom>
            <a:avLst/>
            <a:gdLst/>
            <a:ahLst/>
            <a:cxnLst/>
            <a:rect r="r" b="b" t="t" l="l"/>
            <a:pathLst>
              <a:path h="2316972" w="4645557">
                <a:moveTo>
                  <a:pt x="0" y="0"/>
                </a:moveTo>
                <a:lnTo>
                  <a:pt x="4645557" y="0"/>
                </a:lnTo>
                <a:lnTo>
                  <a:pt x="4645557" y="2316971"/>
                </a:lnTo>
                <a:lnTo>
                  <a:pt x="0" y="23169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9697608" y="2153820"/>
            <a:ext cx="3426352" cy="2801043"/>
          </a:xfrm>
          <a:custGeom>
            <a:avLst/>
            <a:gdLst/>
            <a:ahLst/>
            <a:cxnLst/>
            <a:rect r="r" b="b" t="t" l="l"/>
            <a:pathLst>
              <a:path h="2801043" w="3426352">
                <a:moveTo>
                  <a:pt x="0" y="0"/>
                </a:moveTo>
                <a:lnTo>
                  <a:pt x="3426351" y="0"/>
                </a:lnTo>
                <a:lnTo>
                  <a:pt x="3426351" y="2801043"/>
                </a:lnTo>
                <a:lnTo>
                  <a:pt x="0" y="28010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371164" y="3273888"/>
            <a:ext cx="3457500" cy="2826506"/>
          </a:xfrm>
          <a:custGeom>
            <a:avLst/>
            <a:gdLst/>
            <a:ahLst/>
            <a:cxnLst/>
            <a:rect r="r" b="b" t="t" l="l"/>
            <a:pathLst>
              <a:path h="2826506" w="3457500">
                <a:moveTo>
                  <a:pt x="0" y="0"/>
                </a:moveTo>
                <a:lnTo>
                  <a:pt x="3457501" y="0"/>
                </a:lnTo>
                <a:lnTo>
                  <a:pt x="3457501" y="2826507"/>
                </a:lnTo>
                <a:lnTo>
                  <a:pt x="0" y="28265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666459" y="5263733"/>
            <a:ext cx="3457500" cy="2826506"/>
          </a:xfrm>
          <a:custGeom>
            <a:avLst/>
            <a:gdLst/>
            <a:ahLst/>
            <a:cxnLst/>
            <a:rect r="r" b="b" t="t" l="l"/>
            <a:pathLst>
              <a:path h="2826506" w="3457500">
                <a:moveTo>
                  <a:pt x="0" y="0"/>
                </a:moveTo>
                <a:lnTo>
                  <a:pt x="3457500" y="0"/>
                </a:lnTo>
                <a:lnTo>
                  <a:pt x="3457500" y="2826506"/>
                </a:lnTo>
                <a:lnTo>
                  <a:pt x="0" y="282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3371164" y="6461289"/>
            <a:ext cx="3457500" cy="2826506"/>
          </a:xfrm>
          <a:custGeom>
            <a:avLst/>
            <a:gdLst/>
            <a:ahLst/>
            <a:cxnLst/>
            <a:rect r="r" b="b" t="t" l="l"/>
            <a:pathLst>
              <a:path h="2826506" w="3457500">
                <a:moveTo>
                  <a:pt x="0" y="0"/>
                </a:moveTo>
                <a:lnTo>
                  <a:pt x="3457501" y="0"/>
                </a:lnTo>
                <a:lnTo>
                  <a:pt x="3457501" y="2826506"/>
                </a:lnTo>
                <a:lnTo>
                  <a:pt x="0" y="2826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697608" y="2150993"/>
            <a:ext cx="896117" cy="734816"/>
          </a:xfrm>
          <a:custGeom>
            <a:avLst/>
            <a:gdLst/>
            <a:ahLst/>
            <a:cxnLst/>
            <a:rect r="r" b="b" t="t" l="l"/>
            <a:pathLst>
              <a:path h="734816" w="896117">
                <a:moveTo>
                  <a:pt x="0" y="0"/>
                </a:moveTo>
                <a:lnTo>
                  <a:pt x="896117" y="0"/>
                </a:lnTo>
                <a:lnTo>
                  <a:pt x="896117" y="734816"/>
                </a:lnTo>
                <a:lnTo>
                  <a:pt x="0" y="7348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3371164" y="3273888"/>
            <a:ext cx="928628" cy="761475"/>
          </a:xfrm>
          <a:custGeom>
            <a:avLst/>
            <a:gdLst/>
            <a:ahLst/>
            <a:cxnLst/>
            <a:rect r="r" b="b" t="t" l="l"/>
            <a:pathLst>
              <a:path h="761475" w="928628">
                <a:moveTo>
                  <a:pt x="0" y="0"/>
                </a:moveTo>
                <a:lnTo>
                  <a:pt x="928629" y="0"/>
                </a:lnTo>
                <a:lnTo>
                  <a:pt x="928629" y="761475"/>
                </a:lnTo>
                <a:lnTo>
                  <a:pt x="0" y="7614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9649200" y="5263733"/>
            <a:ext cx="944525" cy="774510"/>
          </a:xfrm>
          <a:custGeom>
            <a:avLst/>
            <a:gdLst/>
            <a:ahLst/>
            <a:cxnLst/>
            <a:rect r="r" b="b" t="t" l="l"/>
            <a:pathLst>
              <a:path h="774510" w="944525">
                <a:moveTo>
                  <a:pt x="0" y="0"/>
                </a:moveTo>
                <a:lnTo>
                  <a:pt x="944525" y="0"/>
                </a:lnTo>
                <a:lnTo>
                  <a:pt x="944525" y="774510"/>
                </a:lnTo>
                <a:lnTo>
                  <a:pt x="0" y="7745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13362929" y="6485381"/>
            <a:ext cx="936864" cy="768228"/>
          </a:xfrm>
          <a:custGeom>
            <a:avLst/>
            <a:gdLst/>
            <a:ahLst/>
            <a:cxnLst/>
            <a:rect r="r" b="b" t="t" l="l"/>
            <a:pathLst>
              <a:path h="768228" w="936864">
                <a:moveTo>
                  <a:pt x="0" y="0"/>
                </a:moveTo>
                <a:lnTo>
                  <a:pt x="936864" y="0"/>
                </a:lnTo>
                <a:lnTo>
                  <a:pt x="936864" y="768229"/>
                </a:lnTo>
                <a:lnTo>
                  <a:pt x="0" y="7682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4" id="14"/>
          <p:cNvSpPr txBox="true"/>
          <p:nvPr/>
        </p:nvSpPr>
        <p:spPr>
          <a:xfrm rot="0">
            <a:off x="952931" y="847980"/>
            <a:ext cx="5076288" cy="1065320"/>
          </a:xfrm>
          <a:prstGeom prst="rect">
            <a:avLst/>
          </a:prstGeom>
        </p:spPr>
        <p:txBody>
          <a:bodyPr anchor="t" rtlCol="false" tIns="0" lIns="0" bIns="0" rIns="0">
            <a:spAutoFit/>
          </a:bodyPr>
          <a:lstStyle/>
          <a:p>
            <a:pPr algn="ctr">
              <a:lnSpc>
                <a:spcPts val="4281"/>
              </a:lnSpc>
              <a:spcBef>
                <a:spcPct val="0"/>
              </a:spcBef>
            </a:pPr>
            <a:r>
              <a:rPr lang="en-US" sz="3058">
                <a:solidFill>
                  <a:srgbClr val="FFFFFF"/>
                </a:solidFill>
                <a:latin typeface="Intro Rust"/>
                <a:ea typeface="Intro Rust"/>
                <a:cs typeface="Intro Rust"/>
                <a:sym typeface="Intro Rust"/>
              </a:rPr>
              <a:t>Eksperimen reseach &amp; Development</a:t>
            </a:r>
          </a:p>
        </p:txBody>
      </p:sp>
      <p:sp>
        <p:nvSpPr>
          <p:cNvPr name="TextBox 15" id="15"/>
          <p:cNvSpPr txBox="true"/>
          <p:nvPr/>
        </p:nvSpPr>
        <p:spPr>
          <a:xfrm rot="0">
            <a:off x="1636615" y="2513687"/>
            <a:ext cx="4255275" cy="485737"/>
          </a:xfrm>
          <a:prstGeom prst="rect">
            <a:avLst/>
          </a:prstGeom>
        </p:spPr>
        <p:txBody>
          <a:bodyPr anchor="t" rtlCol="false" tIns="0" lIns="0" bIns="0" rIns="0">
            <a:spAutoFit/>
          </a:bodyPr>
          <a:lstStyle/>
          <a:p>
            <a:pPr algn="l">
              <a:lnSpc>
                <a:spcPts val="4047"/>
              </a:lnSpc>
            </a:pPr>
            <a:r>
              <a:rPr lang="en-US" sz="2890" b="true">
                <a:solidFill>
                  <a:srgbClr val="171250"/>
                </a:solidFill>
                <a:latin typeface="Nunito Bold"/>
                <a:ea typeface="Nunito Bold"/>
                <a:cs typeface="Nunito Bold"/>
                <a:sym typeface="Nunito Bold"/>
              </a:rPr>
              <a:t>Pengembangan Sistem</a:t>
            </a:r>
          </a:p>
        </p:txBody>
      </p:sp>
      <p:sp>
        <p:nvSpPr>
          <p:cNvPr name="TextBox 16" id="16"/>
          <p:cNvSpPr txBox="true"/>
          <p:nvPr/>
        </p:nvSpPr>
        <p:spPr>
          <a:xfrm rot="0">
            <a:off x="1694069" y="281350"/>
            <a:ext cx="3594012" cy="530127"/>
          </a:xfrm>
          <a:prstGeom prst="rect">
            <a:avLst/>
          </a:prstGeom>
        </p:spPr>
        <p:txBody>
          <a:bodyPr anchor="t" rtlCol="false" tIns="0" lIns="0" bIns="0" rIns="0">
            <a:spAutoFit/>
          </a:bodyPr>
          <a:lstStyle/>
          <a:p>
            <a:pPr algn="ctr">
              <a:lnSpc>
                <a:spcPts val="4380"/>
              </a:lnSpc>
            </a:pPr>
            <a:r>
              <a:rPr lang="en-US" sz="3128">
                <a:solidFill>
                  <a:srgbClr val="FFFFFF"/>
                </a:solidFill>
                <a:latin typeface="Nunito"/>
                <a:ea typeface="Nunito"/>
                <a:cs typeface="Nunito"/>
                <a:sym typeface="Nunito"/>
              </a:rPr>
              <a:t>Jenis &amp; Pendekatan</a:t>
            </a:r>
          </a:p>
        </p:txBody>
      </p:sp>
      <p:sp>
        <p:nvSpPr>
          <p:cNvPr name="TextBox 17" id="17"/>
          <p:cNvSpPr txBox="true"/>
          <p:nvPr/>
        </p:nvSpPr>
        <p:spPr>
          <a:xfrm rot="0">
            <a:off x="1636615" y="3117813"/>
            <a:ext cx="3708920" cy="826395"/>
          </a:xfrm>
          <a:prstGeom prst="rect">
            <a:avLst/>
          </a:prstGeom>
        </p:spPr>
        <p:txBody>
          <a:bodyPr anchor="t" rtlCol="false" tIns="0" lIns="0" bIns="0" rIns="0">
            <a:spAutoFit/>
          </a:bodyPr>
          <a:lstStyle/>
          <a:p>
            <a:pPr algn="l">
              <a:lnSpc>
                <a:spcPts val="3320"/>
              </a:lnSpc>
            </a:pPr>
            <a:r>
              <a:rPr lang="en-US" sz="2371">
                <a:solidFill>
                  <a:srgbClr val="171250"/>
                </a:solidFill>
                <a:latin typeface="Nunito"/>
                <a:ea typeface="Nunito"/>
                <a:cs typeface="Nunito"/>
                <a:sym typeface="Nunito"/>
              </a:rPr>
              <a:t>Berbasis YOLOv11-Pose dan ByteTrack</a:t>
            </a:r>
          </a:p>
        </p:txBody>
      </p:sp>
      <p:sp>
        <p:nvSpPr>
          <p:cNvPr name="TextBox 18" id="18"/>
          <p:cNvSpPr txBox="true"/>
          <p:nvPr/>
        </p:nvSpPr>
        <p:spPr>
          <a:xfrm rot="0">
            <a:off x="4694847" y="7611220"/>
            <a:ext cx="4255275" cy="479019"/>
          </a:xfrm>
          <a:prstGeom prst="rect">
            <a:avLst/>
          </a:prstGeom>
        </p:spPr>
        <p:txBody>
          <a:bodyPr anchor="t" rtlCol="false" tIns="0" lIns="0" bIns="0" rIns="0">
            <a:spAutoFit/>
          </a:bodyPr>
          <a:lstStyle/>
          <a:p>
            <a:pPr algn="l">
              <a:lnSpc>
                <a:spcPts val="4047"/>
              </a:lnSpc>
            </a:pPr>
            <a:r>
              <a:rPr lang="en-US" sz="2890" b="true">
                <a:solidFill>
                  <a:srgbClr val="171250"/>
                </a:solidFill>
                <a:latin typeface="Nunito Bold"/>
                <a:ea typeface="Nunito Bold"/>
                <a:cs typeface="Nunito Bold"/>
                <a:sym typeface="Nunito Bold"/>
              </a:rPr>
              <a:t>Skenario Pengujian</a:t>
            </a:r>
          </a:p>
        </p:txBody>
      </p:sp>
      <p:sp>
        <p:nvSpPr>
          <p:cNvPr name="TextBox 19" id="19"/>
          <p:cNvSpPr txBox="true"/>
          <p:nvPr/>
        </p:nvSpPr>
        <p:spPr>
          <a:xfrm rot="0">
            <a:off x="4694847" y="8215346"/>
            <a:ext cx="3708920" cy="826395"/>
          </a:xfrm>
          <a:prstGeom prst="rect">
            <a:avLst/>
          </a:prstGeom>
        </p:spPr>
        <p:txBody>
          <a:bodyPr anchor="t" rtlCol="false" tIns="0" lIns="0" bIns="0" rIns="0">
            <a:spAutoFit/>
          </a:bodyPr>
          <a:lstStyle/>
          <a:p>
            <a:pPr algn="l">
              <a:lnSpc>
                <a:spcPts val="3320"/>
              </a:lnSpc>
            </a:pPr>
            <a:r>
              <a:rPr lang="en-US" sz="2371">
                <a:solidFill>
                  <a:srgbClr val="171250"/>
                </a:solidFill>
                <a:latin typeface="Nunito"/>
                <a:ea typeface="Nunito"/>
                <a:cs typeface="Nunito"/>
                <a:sym typeface="Nunito"/>
              </a:rPr>
              <a:t>Analisis gerak 1-3 subjek secara real-time</a:t>
            </a:r>
          </a:p>
        </p:txBody>
      </p:sp>
      <p:sp>
        <p:nvSpPr>
          <p:cNvPr name="TextBox 20" id="20"/>
          <p:cNvSpPr txBox="true"/>
          <p:nvPr/>
        </p:nvSpPr>
        <p:spPr>
          <a:xfrm rot="0">
            <a:off x="2998683" y="5059258"/>
            <a:ext cx="4255275" cy="479019"/>
          </a:xfrm>
          <a:prstGeom prst="rect">
            <a:avLst/>
          </a:prstGeom>
        </p:spPr>
        <p:txBody>
          <a:bodyPr anchor="t" rtlCol="false" tIns="0" lIns="0" bIns="0" rIns="0">
            <a:spAutoFit/>
          </a:bodyPr>
          <a:lstStyle/>
          <a:p>
            <a:pPr algn="l">
              <a:lnSpc>
                <a:spcPts val="4047"/>
              </a:lnSpc>
            </a:pPr>
            <a:r>
              <a:rPr lang="en-US" sz="2890" b="true">
                <a:solidFill>
                  <a:srgbClr val="171250"/>
                </a:solidFill>
                <a:latin typeface="Nunito Bold"/>
                <a:ea typeface="Nunito Bold"/>
                <a:cs typeface="Nunito Bold"/>
                <a:sym typeface="Nunito Bold"/>
              </a:rPr>
              <a:t>Ruang Lingkup Uji</a:t>
            </a:r>
          </a:p>
        </p:txBody>
      </p:sp>
      <p:sp>
        <p:nvSpPr>
          <p:cNvPr name="TextBox 21" id="21"/>
          <p:cNvSpPr txBox="true"/>
          <p:nvPr/>
        </p:nvSpPr>
        <p:spPr>
          <a:xfrm rot="0">
            <a:off x="2998683" y="5663385"/>
            <a:ext cx="3823801" cy="826395"/>
          </a:xfrm>
          <a:prstGeom prst="rect">
            <a:avLst/>
          </a:prstGeom>
        </p:spPr>
        <p:txBody>
          <a:bodyPr anchor="t" rtlCol="false" tIns="0" lIns="0" bIns="0" rIns="0">
            <a:spAutoFit/>
          </a:bodyPr>
          <a:lstStyle/>
          <a:p>
            <a:pPr algn="l">
              <a:lnSpc>
                <a:spcPts val="3320"/>
              </a:lnSpc>
            </a:pPr>
            <a:r>
              <a:rPr lang="en-US" sz="2371">
                <a:solidFill>
                  <a:srgbClr val="171250"/>
                </a:solidFill>
                <a:latin typeface="Nunito"/>
                <a:ea typeface="Nunito"/>
                <a:cs typeface="Nunito"/>
                <a:sym typeface="Nunito"/>
              </a:rPr>
              <a:t>Latihan Kalistenik : Push-up, Squat, Sit-up </a:t>
            </a:r>
          </a:p>
        </p:txBody>
      </p:sp>
      <p:sp>
        <p:nvSpPr>
          <p:cNvPr name="TextBox 22" id="22"/>
          <p:cNvSpPr txBox="true"/>
          <p:nvPr/>
        </p:nvSpPr>
        <p:spPr>
          <a:xfrm rot="0">
            <a:off x="10314993" y="1322554"/>
            <a:ext cx="6112343" cy="522395"/>
          </a:xfrm>
          <a:prstGeom prst="rect">
            <a:avLst/>
          </a:prstGeom>
        </p:spPr>
        <p:txBody>
          <a:bodyPr anchor="t" rtlCol="false" tIns="0" lIns="0" bIns="0" rIns="0">
            <a:spAutoFit/>
          </a:bodyPr>
          <a:lstStyle/>
          <a:p>
            <a:pPr algn="ctr">
              <a:lnSpc>
                <a:spcPts val="4281"/>
              </a:lnSpc>
              <a:spcBef>
                <a:spcPct val="0"/>
              </a:spcBef>
            </a:pPr>
            <a:r>
              <a:rPr lang="en-US" sz="3058">
                <a:solidFill>
                  <a:srgbClr val="FFFFFF"/>
                </a:solidFill>
                <a:latin typeface="Intro Rust"/>
                <a:ea typeface="Intro Rust"/>
                <a:cs typeface="Intro Rust"/>
                <a:sym typeface="Intro Rust"/>
              </a:rPr>
              <a:t>Alur pemrosesan sistem</a:t>
            </a:r>
          </a:p>
        </p:txBody>
      </p:sp>
      <p:sp>
        <p:nvSpPr>
          <p:cNvPr name="TextBox 23" id="23"/>
          <p:cNvSpPr txBox="true"/>
          <p:nvPr/>
        </p:nvSpPr>
        <p:spPr>
          <a:xfrm rot="0">
            <a:off x="11056131" y="754327"/>
            <a:ext cx="3594012" cy="530127"/>
          </a:xfrm>
          <a:prstGeom prst="rect">
            <a:avLst/>
          </a:prstGeom>
        </p:spPr>
        <p:txBody>
          <a:bodyPr anchor="t" rtlCol="false" tIns="0" lIns="0" bIns="0" rIns="0">
            <a:spAutoFit/>
          </a:bodyPr>
          <a:lstStyle/>
          <a:p>
            <a:pPr algn="ctr">
              <a:lnSpc>
                <a:spcPts val="4380"/>
              </a:lnSpc>
            </a:pPr>
            <a:r>
              <a:rPr lang="en-US" sz="3128">
                <a:solidFill>
                  <a:srgbClr val="FFFFFF"/>
                </a:solidFill>
                <a:latin typeface="Nunito"/>
                <a:ea typeface="Nunito"/>
                <a:cs typeface="Nunito"/>
                <a:sym typeface="Nunito"/>
              </a:rPr>
              <a:t>Arsitektur</a:t>
            </a:r>
          </a:p>
        </p:txBody>
      </p:sp>
      <p:sp>
        <p:nvSpPr>
          <p:cNvPr name="TextBox 24" id="24"/>
          <p:cNvSpPr txBox="true"/>
          <p:nvPr/>
        </p:nvSpPr>
        <p:spPr>
          <a:xfrm rot="0">
            <a:off x="9917926" y="2828659"/>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Ruang Lingkup Uji</a:t>
            </a:r>
          </a:p>
        </p:txBody>
      </p:sp>
      <p:sp>
        <p:nvSpPr>
          <p:cNvPr name="TextBox 25" id="25"/>
          <p:cNvSpPr txBox="true"/>
          <p:nvPr/>
        </p:nvSpPr>
        <p:spPr>
          <a:xfrm rot="0">
            <a:off x="9917926" y="3507198"/>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Tangkapan frame kamera real-time</a:t>
            </a:r>
          </a:p>
        </p:txBody>
      </p:sp>
      <p:sp>
        <p:nvSpPr>
          <p:cNvPr name="TextBox 26" id="26"/>
          <p:cNvSpPr txBox="true"/>
          <p:nvPr/>
        </p:nvSpPr>
        <p:spPr>
          <a:xfrm rot="0">
            <a:off x="13660977" y="3907679"/>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Deteksi Pose</a:t>
            </a:r>
          </a:p>
        </p:txBody>
      </p:sp>
      <p:sp>
        <p:nvSpPr>
          <p:cNvPr name="TextBox 27" id="27"/>
          <p:cNvSpPr txBox="true"/>
          <p:nvPr/>
        </p:nvSpPr>
        <p:spPr>
          <a:xfrm rot="0">
            <a:off x="13610354" y="4518256"/>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Ekstraksi 14 titik kunci YOLOv11</a:t>
            </a:r>
          </a:p>
        </p:txBody>
      </p:sp>
      <p:sp>
        <p:nvSpPr>
          <p:cNvPr name="TextBox 28" id="28"/>
          <p:cNvSpPr txBox="true"/>
          <p:nvPr/>
        </p:nvSpPr>
        <p:spPr>
          <a:xfrm rot="0">
            <a:off x="9917926" y="6057191"/>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Stabilisasi</a:t>
            </a:r>
          </a:p>
        </p:txBody>
      </p:sp>
      <p:sp>
        <p:nvSpPr>
          <p:cNvPr name="TextBox 29" id="29"/>
          <p:cNvSpPr txBox="true"/>
          <p:nvPr/>
        </p:nvSpPr>
        <p:spPr>
          <a:xfrm rot="0">
            <a:off x="9943178" y="6629361"/>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Pelacakan identitas &amp; penyaringan sinyal</a:t>
            </a:r>
          </a:p>
        </p:txBody>
      </p:sp>
      <p:sp>
        <p:nvSpPr>
          <p:cNvPr name="TextBox 30" id="30"/>
          <p:cNvSpPr txBox="true"/>
          <p:nvPr/>
        </p:nvSpPr>
        <p:spPr>
          <a:xfrm rot="0">
            <a:off x="13593372" y="7226256"/>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Evaluasi Kinematik</a:t>
            </a:r>
          </a:p>
        </p:txBody>
      </p:sp>
      <p:sp>
        <p:nvSpPr>
          <p:cNvPr name="TextBox 31" id="31"/>
          <p:cNvSpPr txBox="true"/>
          <p:nvPr/>
        </p:nvSpPr>
        <p:spPr>
          <a:xfrm rot="0">
            <a:off x="13559731" y="7826365"/>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Klasifikasi postur dan repetisi otomatis</a:t>
            </a:r>
          </a:p>
        </p:txBody>
      </p:sp>
    </p:spTree>
  </p:cSld>
  <p:clrMapOvr>
    <a:masterClrMapping/>
  </p:clrMapOvr>
  <p:transition spd="slow">
    <p:circl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TextBox 3" id="3"/>
          <p:cNvSpPr txBox="true"/>
          <p:nvPr/>
        </p:nvSpPr>
        <p:spPr>
          <a:xfrm rot="0">
            <a:off x="3017482" y="426295"/>
            <a:ext cx="11824881" cy="1080986"/>
          </a:xfrm>
          <a:prstGeom prst="rect">
            <a:avLst/>
          </a:prstGeom>
        </p:spPr>
        <p:txBody>
          <a:bodyPr anchor="t" rtlCol="false" tIns="0" lIns="0" bIns="0" rIns="0">
            <a:spAutoFit/>
          </a:bodyPr>
          <a:lstStyle/>
          <a:p>
            <a:pPr algn="ctr">
              <a:lnSpc>
                <a:spcPts val="8844"/>
              </a:lnSpc>
              <a:spcBef>
                <a:spcPct val="0"/>
              </a:spcBef>
            </a:pPr>
            <a:r>
              <a:rPr lang="en-US" sz="6317">
                <a:solidFill>
                  <a:srgbClr val="FFFFFF"/>
                </a:solidFill>
                <a:latin typeface="Intro Rust"/>
                <a:ea typeface="Intro Rust"/>
                <a:cs typeface="Intro Rust"/>
                <a:sym typeface="Intro Rust"/>
              </a:rPr>
              <a:t>Fokus Evaluasi Data</a:t>
            </a:r>
          </a:p>
        </p:txBody>
      </p:sp>
      <p:sp>
        <p:nvSpPr>
          <p:cNvPr name="Freeform 4" id="4"/>
          <p:cNvSpPr/>
          <p:nvPr/>
        </p:nvSpPr>
        <p:spPr>
          <a:xfrm flipH="false" flipV="false" rot="0">
            <a:off x="-1287864" y="1028700"/>
            <a:ext cx="4981126" cy="9978884"/>
          </a:xfrm>
          <a:custGeom>
            <a:avLst/>
            <a:gdLst/>
            <a:ahLst/>
            <a:cxnLst/>
            <a:rect r="r" b="b" t="t" l="l"/>
            <a:pathLst>
              <a:path h="9978884" w="4981126">
                <a:moveTo>
                  <a:pt x="0" y="0"/>
                </a:moveTo>
                <a:lnTo>
                  <a:pt x="4981126" y="0"/>
                </a:lnTo>
                <a:lnTo>
                  <a:pt x="4981126" y="9978884"/>
                </a:lnTo>
                <a:lnTo>
                  <a:pt x="0" y="9978884"/>
                </a:lnTo>
                <a:lnTo>
                  <a:pt x="0" y="0"/>
                </a:lnTo>
                <a:close/>
              </a:path>
            </a:pathLst>
          </a:custGeom>
          <a:blipFill>
            <a:blip r:embed="rId3"/>
            <a:stretch>
              <a:fillRect l="0" t="0" r="0" b="0"/>
            </a:stretch>
          </a:blipFill>
        </p:spPr>
      </p:sp>
      <p:sp>
        <p:nvSpPr>
          <p:cNvPr name="Freeform 5" id="5"/>
          <p:cNvSpPr/>
          <p:nvPr/>
        </p:nvSpPr>
        <p:spPr>
          <a:xfrm flipH="false" flipV="false" rot="0">
            <a:off x="14065421" y="1282714"/>
            <a:ext cx="5949910" cy="9978884"/>
          </a:xfrm>
          <a:custGeom>
            <a:avLst/>
            <a:gdLst/>
            <a:ahLst/>
            <a:cxnLst/>
            <a:rect r="r" b="b" t="t" l="l"/>
            <a:pathLst>
              <a:path h="9978884" w="5949910">
                <a:moveTo>
                  <a:pt x="0" y="0"/>
                </a:moveTo>
                <a:lnTo>
                  <a:pt x="5949910" y="0"/>
                </a:lnTo>
                <a:lnTo>
                  <a:pt x="5949910" y="9978884"/>
                </a:lnTo>
                <a:lnTo>
                  <a:pt x="0" y="9978884"/>
                </a:lnTo>
                <a:lnTo>
                  <a:pt x="0" y="0"/>
                </a:lnTo>
                <a:close/>
              </a:path>
            </a:pathLst>
          </a:custGeom>
          <a:blipFill>
            <a:blip r:embed="rId4"/>
            <a:stretch>
              <a:fillRect l="0" t="0" r="0" b="0"/>
            </a:stretch>
          </a:blipFill>
        </p:spPr>
      </p:sp>
      <p:sp>
        <p:nvSpPr>
          <p:cNvPr name="Freeform 6" id="6"/>
          <p:cNvSpPr/>
          <p:nvPr/>
        </p:nvSpPr>
        <p:spPr>
          <a:xfrm flipH="false" flipV="false" rot="0">
            <a:off x="1028700" y="1725890"/>
            <a:ext cx="3697857" cy="2278804"/>
          </a:xfrm>
          <a:custGeom>
            <a:avLst/>
            <a:gdLst/>
            <a:ahLst/>
            <a:cxnLst/>
            <a:rect r="r" b="b" t="t" l="l"/>
            <a:pathLst>
              <a:path h="2278804" w="3697857">
                <a:moveTo>
                  <a:pt x="0" y="0"/>
                </a:moveTo>
                <a:lnTo>
                  <a:pt x="3697857" y="0"/>
                </a:lnTo>
                <a:lnTo>
                  <a:pt x="3697857" y="2278805"/>
                </a:lnTo>
                <a:lnTo>
                  <a:pt x="0" y="22788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206281" y="1725890"/>
            <a:ext cx="3697857" cy="2278804"/>
          </a:xfrm>
          <a:custGeom>
            <a:avLst/>
            <a:gdLst/>
            <a:ahLst/>
            <a:cxnLst/>
            <a:rect r="r" b="b" t="t" l="l"/>
            <a:pathLst>
              <a:path h="2278804" w="3697857">
                <a:moveTo>
                  <a:pt x="0" y="0"/>
                </a:moveTo>
                <a:lnTo>
                  <a:pt x="3697857" y="0"/>
                </a:lnTo>
                <a:lnTo>
                  <a:pt x="3697857" y="2278805"/>
                </a:lnTo>
                <a:lnTo>
                  <a:pt x="0" y="22788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383862" y="1725890"/>
            <a:ext cx="3697857" cy="2278804"/>
          </a:xfrm>
          <a:custGeom>
            <a:avLst/>
            <a:gdLst/>
            <a:ahLst/>
            <a:cxnLst/>
            <a:rect r="r" b="b" t="t" l="l"/>
            <a:pathLst>
              <a:path h="2278804" w="3697857">
                <a:moveTo>
                  <a:pt x="0" y="0"/>
                </a:moveTo>
                <a:lnTo>
                  <a:pt x="3697857" y="0"/>
                </a:lnTo>
                <a:lnTo>
                  <a:pt x="3697857" y="2278805"/>
                </a:lnTo>
                <a:lnTo>
                  <a:pt x="0" y="22788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3561443" y="1725890"/>
            <a:ext cx="3697857" cy="2278804"/>
          </a:xfrm>
          <a:custGeom>
            <a:avLst/>
            <a:gdLst/>
            <a:ahLst/>
            <a:cxnLst/>
            <a:rect r="r" b="b" t="t" l="l"/>
            <a:pathLst>
              <a:path h="2278804" w="3697857">
                <a:moveTo>
                  <a:pt x="0" y="0"/>
                </a:moveTo>
                <a:lnTo>
                  <a:pt x="3697857" y="0"/>
                </a:lnTo>
                <a:lnTo>
                  <a:pt x="3697857" y="2278805"/>
                </a:lnTo>
                <a:lnTo>
                  <a:pt x="0" y="227880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449232" y="4223770"/>
            <a:ext cx="5514098" cy="5683020"/>
          </a:xfrm>
          <a:custGeom>
            <a:avLst/>
            <a:gdLst/>
            <a:ahLst/>
            <a:cxnLst/>
            <a:rect r="r" b="b" t="t" l="l"/>
            <a:pathLst>
              <a:path h="5683020" w="5514098">
                <a:moveTo>
                  <a:pt x="0" y="0"/>
                </a:moveTo>
                <a:lnTo>
                  <a:pt x="5514098" y="0"/>
                </a:lnTo>
                <a:lnTo>
                  <a:pt x="5514098" y="5683020"/>
                </a:lnTo>
                <a:lnTo>
                  <a:pt x="0" y="5683020"/>
                </a:lnTo>
                <a:lnTo>
                  <a:pt x="0" y="0"/>
                </a:lnTo>
                <a:close/>
              </a:path>
            </a:pathLst>
          </a:custGeom>
          <a:blipFill>
            <a:blip r:embed="rId7"/>
            <a:stretch>
              <a:fillRect l="0" t="0" r="0" b="0"/>
            </a:stretch>
          </a:blipFill>
        </p:spPr>
      </p:sp>
      <p:sp>
        <p:nvSpPr>
          <p:cNvPr name="Freeform 11" id="11"/>
          <p:cNvSpPr/>
          <p:nvPr/>
        </p:nvSpPr>
        <p:spPr>
          <a:xfrm flipH="false" flipV="false" rot="0">
            <a:off x="8472192" y="4325992"/>
            <a:ext cx="8568219" cy="5580798"/>
          </a:xfrm>
          <a:custGeom>
            <a:avLst/>
            <a:gdLst/>
            <a:ahLst/>
            <a:cxnLst/>
            <a:rect r="r" b="b" t="t" l="l"/>
            <a:pathLst>
              <a:path h="5580798" w="8568219">
                <a:moveTo>
                  <a:pt x="0" y="0"/>
                </a:moveTo>
                <a:lnTo>
                  <a:pt x="8568218" y="0"/>
                </a:lnTo>
                <a:lnTo>
                  <a:pt x="8568218" y="5580798"/>
                </a:lnTo>
                <a:lnTo>
                  <a:pt x="0" y="5580798"/>
                </a:lnTo>
                <a:lnTo>
                  <a:pt x="0" y="0"/>
                </a:lnTo>
                <a:close/>
              </a:path>
            </a:pathLst>
          </a:custGeom>
          <a:blipFill>
            <a:blip r:embed="rId8"/>
            <a:stretch>
              <a:fillRect l="0" t="-29477" r="0" b="-24053"/>
            </a:stretch>
          </a:blipFill>
        </p:spPr>
      </p:sp>
      <p:sp>
        <p:nvSpPr>
          <p:cNvPr name="TextBox 12" id="12"/>
          <p:cNvSpPr txBox="true"/>
          <p:nvPr/>
        </p:nvSpPr>
        <p:spPr>
          <a:xfrm rot="0">
            <a:off x="0" y="278514"/>
            <a:ext cx="3290863" cy="530127"/>
          </a:xfrm>
          <a:prstGeom prst="rect">
            <a:avLst/>
          </a:prstGeom>
        </p:spPr>
        <p:txBody>
          <a:bodyPr anchor="t" rtlCol="false" tIns="0" lIns="0" bIns="0" rIns="0">
            <a:spAutoFit/>
          </a:bodyPr>
          <a:lstStyle/>
          <a:p>
            <a:pPr algn="ctr">
              <a:lnSpc>
                <a:spcPts val="4380"/>
              </a:lnSpc>
            </a:pPr>
            <a:r>
              <a:rPr lang="en-US" sz="3128">
                <a:solidFill>
                  <a:srgbClr val="FFFFFF"/>
                </a:solidFill>
                <a:latin typeface="Nunito"/>
                <a:ea typeface="Nunito"/>
                <a:cs typeface="Nunito"/>
                <a:sym typeface="Nunito"/>
              </a:rPr>
              <a:t>Teknik Analisis</a:t>
            </a:r>
          </a:p>
        </p:txBody>
      </p:sp>
      <p:sp>
        <p:nvSpPr>
          <p:cNvPr name="TextBox 13" id="13"/>
          <p:cNvSpPr txBox="true"/>
          <p:nvPr/>
        </p:nvSpPr>
        <p:spPr>
          <a:xfrm rot="0">
            <a:off x="9866432" y="2223195"/>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Kinerja Komputasi</a:t>
            </a:r>
          </a:p>
        </p:txBody>
      </p:sp>
      <p:sp>
        <p:nvSpPr>
          <p:cNvPr name="TextBox 14" id="14"/>
          <p:cNvSpPr txBox="true"/>
          <p:nvPr/>
        </p:nvSpPr>
        <p:spPr>
          <a:xfrm rot="0">
            <a:off x="9765185" y="2817667"/>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Pengukuran stabilitas FPS dan latensi</a:t>
            </a:r>
          </a:p>
        </p:txBody>
      </p:sp>
      <p:sp>
        <p:nvSpPr>
          <p:cNvPr name="TextBox 15" id="15"/>
          <p:cNvSpPr txBox="true"/>
          <p:nvPr/>
        </p:nvSpPr>
        <p:spPr>
          <a:xfrm rot="0">
            <a:off x="1460647" y="2223195"/>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Akurasi Repetisi</a:t>
            </a:r>
          </a:p>
        </p:txBody>
      </p:sp>
      <p:sp>
        <p:nvSpPr>
          <p:cNvPr name="TextBox 16" id="16"/>
          <p:cNvSpPr txBox="true"/>
          <p:nvPr/>
        </p:nvSpPr>
        <p:spPr>
          <a:xfrm rot="0">
            <a:off x="5638228" y="2223195"/>
            <a:ext cx="2833964"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Evaluasi Postur</a:t>
            </a:r>
          </a:p>
        </p:txBody>
      </p:sp>
      <p:sp>
        <p:nvSpPr>
          <p:cNvPr name="TextBox 17" id="17"/>
          <p:cNvSpPr txBox="true"/>
          <p:nvPr/>
        </p:nvSpPr>
        <p:spPr>
          <a:xfrm rot="0">
            <a:off x="13900869" y="2223195"/>
            <a:ext cx="3046986" cy="432589"/>
          </a:xfrm>
          <a:prstGeom prst="rect">
            <a:avLst/>
          </a:prstGeom>
        </p:spPr>
        <p:txBody>
          <a:bodyPr anchor="t" rtlCol="false" tIns="0" lIns="0" bIns="0" rIns="0">
            <a:spAutoFit/>
          </a:bodyPr>
          <a:lstStyle/>
          <a:p>
            <a:pPr algn="ctr">
              <a:lnSpc>
                <a:spcPts val="3456"/>
              </a:lnSpc>
            </a:pPr>
            <a:r>
              <a:rPr lang="en-US" b="true" sz="2468">
                <a:solidFill>
                  <a:srgbClr val="171250"/>
                </a:solidFill>
                <a:latin typeface="Nunito Bold"/>
                <a:ea typeface="Nunito Bold"/>
                <a:cs typeface="Nunito Bold"/>
                <a:sym typeface="Nunito Bold"/>
              </a:rPr>
              <a:t>Stabilitas Koordinat</a:t>
            </a:r>
          </a:p>
        </p:txBody>
      </p:sp>
      <p:sp>
        <p:nvSpPr>
          <p:cNvPr name="TextBox 18" id="18"/>
          <p:cNvSpPr txBox="true"/>
          <p:nvPr/>
        </p:nvSpPr>
        <p:spPr>
          <a:xfrm rot="0">
            <a:off x="1329314" y="2817667"/>
            <a:ext cx="3096629"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Presentase kesalahan komperatif  </a:t>
            </a:r>
          </a:p>
        </p:txBody>
      </p:sp>
      <p:sp>
        <p:nvSpPr>
          <p:cNvPr name="TextBox 19" id="19"/>
          <p:cNvSpPr txBox="true"/>
          <p:nvPr/>
        </p:nvSpPr>
        <p:spPr>
          <a:xfrm rot="0">
            <a:off x="5536981" y="2776562"/>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Kesesuaikan kategori dengan data acuan</a:t>
            </a:r>
          </a:p>
        </p:txBody>
      </p:sp>
      <p:sp>
        <p:nvSpPr>
          <p:cNvPr name="TextBox 20" id="20"/>
          <p:cNvSpPr txBox="true"/>
          <p:nvPr/>
        </p:nvSpPr>
        <p:spPr>
          <a:xfrm rot="0">
            <a:off x="13938969" y="2776562"/>
            <a:ext cx="2935211" cy="825589"/>
          </a:xfrm>
          <a:prstGeom prst="rect">
            <a:avLst/>
          </a:prstGeom>
        </p:spPr>
        <p:txBody>
          <a:bodyPr anchor="t" rtlCol="false" tIns="0" lIns="0" bIns="0" rIns="0">
            <a:spAutoFit/>
          </a:bodyPr>
          <a:lstStyle/>
          <a:p>
            <a:pPr algn="ctr">
              <a:lnSpc>
                <a:spcPts val="3320"/>
              </a:lnSpc>
            </a:pPr>
            <a:r>
              <a:rPr lang="en-US" sz="2371">
                <a:solidFill>
                  <a:srgbClr val="171250"/>
                </a:solidFill>
                <a:latin typeface="Nunito"/>
                <a:ea typeface="Nunito"/>
                <a:cs typeface="Nunito"/>
                <a:sym typeface="Nunito"/>
              </a:rPr>
              <a:t>Penyaringan getaran antar-frame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TextBox 3" id="3"/>
          <p:cNvSpPr txBox="true"/>
          <p:nvPr/>
        </p:nvSpPr>
        <p:spPr>
          <a:xfrm rot="0">
            <a:off x="5197686" y="691503"/>
            <a:ext cx="7892627" cy="1458961"/>
          </a:xfrm>
          <a:prstGeom prst="rect">
            <a:avLst/>
          </a:prstGeom>
        </p:spPr>
        <p:txBody>
          <a:bodyPr anchor="t" rtlCol="false" tIns="0" lIns="0" bIns="0" rIns="0">
            <a:spAutoFit/>
          </a:bodyPr>
          <a:lstStyle/>
          <a:p>
            <a:pPr algn="ctr">
              <a:lnSpc>
                <a:spcPts val="11984"/>
              </a:lnSpc>
              <a:spcBef>
                <a:spcPct val="0"/>
              </a:spcBef>
            </a:pPr>
            <a:r>
              <a:rPr lang="en-US" sz="8560">
                <a:solidFill>
                  <a:srgbClr val="FFFFFF"/>
                </a:solidFill>
                <a:latin typeface="Intro Rust"/>
                <a:ea typeface="Intro Rust"/>
                <a:cs typeface="Intro Rust"/>
                <a:sym typeface="Intro Rust"/>
              </a:rPr>
              <a:t>K</a:t>
            </a:r>
            <a:r>
              <a:rPr lang="en-US" sz="8560">
                <a:solidFill>
                  <a:srgbClr val="FFFFFF"/>
                </a:solidFill>
                <a:latin typeface="Intro Rust"/>
                <a:ea typeface="Intro Rust"/>
                <a:cs typeface="Intro Rust"/>
                <a:sym typeface="Intro Rust"/>
              </a:rPr>
              <a:t>esimpulan</a:t>
            </a:r>
          </a:p>
        </p:txBody>
      </p:sp>
      <p:sp>
        <p:nvSpPr>
          <p:cNvPr name="Freeform 4" id="4"/>
          <p:cNvSpPr/>
          <p:nvPr/>
        </p:nvSpPr>
        <p:spPr>
          <a:xfrm flipH="false" flipV="false" rot="0">
            <a:off x="-1287864" y="1028700"/>
            <a:ext cx="4981126" cy="9978884"/>
          </a:xfrm>
          <a:custGeom>
            <a:avLst/>
            <a:gdLst/>
            <a:ahLst/>
            <a:cxnLst/>
            <a:rect r="r" b="b" t="t" l="l"/>
            <a:pathLst>
              <a:path h="9978884" w="4981126">
                <a:moveTo>
                  <a:pt x="0" y="0"/>
                </a:moveTo>
                <a:lnTo>
                  <a:pt x="4981126" y="0"/>
                </a:lnTo>
                <a:lnTo>
                  <a:pt x="4981126" y="9978884"/>
                </a:lnTo>
                <a:lnTo>
                  <a:pt x="0" y="9978884"/>
                </a:lnTo>
                <a:lnTo>
                  <a:pt x="0" y="0"/>
                </a:lnTo>
                <a:close/>
              </a:path>
            </a:pathLst>
          </a:custGeom>
          <a:blipFill>
            <a:blip r:embed="rId3"/>
            <a:stretch>
              <a:fillRect l="0" t="0" r="0" b="0"/>
            </a:stretch>
          </a:blipFill>
        </p:spPr>
      </p:sp>
      <p:sp>
        <p:nvSpPr>
          <p:cNvPr name="Freeform 5" id="5"/>
          <p:cNvSpPr/>
          <p:nvPr/>
        </p:nvSpPr>
        <p:spPr>
          <a:xfrm flipH="false" flipV="false" rot="0">
            <a:off x="14065421" y="1282714"/>
            <a:ext cx="5949910" cy="9978884"/>
          </a:xfrm>
          <a:custGeom>
            <a:avLst/>
            <a:gdLst/>
            <a:ahLst/>
            <a:cxnLst/>
            <a:rect r="r" b="b" t="t" l="l"/>
            <a:pathLst>
              <a:path h="9978884" w="5949910">
                <a:moveTo>
                  <a:pt x="0" y="0"/>
                </a:moveTo>
                <a:lnTo>
                  <a:pt x="5949910" y="0"/>
                </a:lnTo>
                <a:lnTo>
                  <a:pt x="5949910" y="9978884"/>
                </a:lnTo>
                <a:lnTo>
                  <a:pt x="0" y="9978884"/>
                </a:lnTo>
                <a:lnTo>
                  <a:pt x="0" y="0"/>
                </a:lnTo>
                <a:close/>
              </a:path>
            </a:pathLst>
          </a:custGeom>
          <a:blipFill>
            <a:blip r:embed="rId4"/>
            <a:stretch>
              <a:fillRect l="0" t="0" r="0" b="0"/>
            </a:stretch>
          </a:blipFill>
        </p:spPr>
      </p:sp>
      <p:sp>
        <p:nvSpPr>
          <p:cNvPr name="TextBox 6" id="6"/>
          <p:cNvSpPr txBox="true"/>
          <p:nvPr/>
        </p:nvSpPr>
        <p:spPr>
          <a:xfrm rot="0">
            <a:off x="1644366" y="2492348"/>
            <a:ext cx="14999268" cy="6054627"/>
          </a:xfrm>
          <a:prstGeom prst="rect">
            <a:avLst/>
          </a:prstGeom>
        </p:spPr>
        <p:txBody>
          <a:bodyPr anchor="t" rtlCol="false" tIns="0" lIns="0" bIns="0" rIns="0">
            <a:spAutoFit/>
          </a:bodyPr>
          <a:lstStyle/>
          <a:p>
            <a:pPr algn="just">
              <a:lnSpc>
                <a:spcPts val="4380"/>
              </a:lnSpc>
            </a:pPr>
            <a:r>
              <a:rPr lang="en-US" sz="3128">
                <a:solidFill>
                  <a:srgbClr val="FFFFFF"/>
                </a:solidFill>
                <a:latin typeface="Nunito"/>
                <a:ea typeface="Nunito"/>
                <a:cs typeface="Nunito"/>
                <a:sym typeface="Nunito"/>
              </a:rPr>
              <a:t>Latihan kalistenik mandiri yang rentan terhadap kesalahan postur biomekanik mendorong pengembangan sistem SKELIO berbasis YOLOv11-Pose untuk mengekstraksi 14 titik kunci anatomi tubuh pengguna tanpa penanda fisik. Sistem ini mengintegrasikan algoritma ByteTrack untuk mempertahankan identitas pelacakan hingga tiga subjek secara bersamaan dan One-Euro Filter untuk menstabilkan fluktuasi koordinat akibat derau sensor. Koordinat yang telah stabil kemudian diproses melalui analisis kinematik berbasis Hukum Kosinus untuk menghitung perubahan sudut persendian selama latihan berlangsung. Melalui integrasi aturan Finite State Machine (FSM), sistem akhirnya mampu mengenali fase gerakan, mengevaluasi ketepatan postur, dan menghitung jumlah repetisi secara otomatis yang akurasinya diuji terhadap data acuan manual.</a:t>
            </a:r>
          </a:p>
        </p:txBody>
      </p:sp>
    </p:spTree>
  </p:cSld>
  <p:clrMapOvr>
    <a:masterClrMapping/>
  </p:clrMapOvr>
  <p:transition spd="slow">
    <p:circl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8134" t="-13844" r="-8630" b="-169433"/>
            </a:stretch>
          </a:blipFill>
        </p:spPr>
      </p:sp>
      <p:sp>
        <p:nvSpPr>
          <p:cNvPr name="Freeform 3" id="3"/>
          <p:cNvSpPr/>
          <p:nvPr/>
        </p:nvSpPr>
        <p:spPr>
          <a:xfrm flipH="false" flipV="false" rot="0">
            <a:off x="-1287864" y="1028700"/>
            <a:ext cx="4981126" cy="9978884"/>
          </a:xfrm>
          <a:custGeom>
            <a:avLst/>
            <a:gdLst/>
            <a:ahLst/>
            <a:cxnLst/>
            <a:rect r="r" b="b" t="t" l="l"/>
            <a:pathLst>
              <a:path h="9978884" w="4981126">
                <a:moveTo>
                  <a:pt x="0" y="0"/>
                </a:moveTo>
                <a:lnTo>
                  <a:pt x="4981126" y="0"/>
                </a:lnTo>
                <a:lnTo>
                  <a:pt x="4981126" y="9978884"/>
                </a:lnTo>
                <a:lnTo>
                  <a:pt x="0" y="9978884"/>
                </a:lnTo>
                <a:lnTo>
                  <a:pt x="0" y="0"/>
                </a:lnTo>
                <a:close/>
              </a:path>
            </a:pathLst>
          </a:custGeom>
          <a:blipFill>
            <a:blip r:embed="rId3"/>
            <a:stretch>
              <a:fillRect l="0" t="0" r="0" b="0"/>
            </a:stretch>
          </a:blipFill>
        </p:spPr>
      </p:sp>
      <p:sp>
        <p:nvSpPr>
          <p:cNvPr name="Freeform 4" id="4"/>
          <p:cNvSpPr/>
          <p:nvPr/>
        </p:nvSpPr>
        <p:spPr>
          <a:xfrm flipH="false" flipV="false" rot="0">
            <a:off x="14065421" y="1282714"/>
            <a:ext cx="5949910" cy="9978884"/>
          </a:xfrm>
          <a:custGeom>
            <a:avLst/>
            <a:gdLst/>
            <a:ahLst/>
            <a:cxnLst/>
            <a:rect r="r" b="b" t="t" l="l"/>
            <a:pathLst>
              <a:path h="9978884" w="5949910">
                <a:moveTo>
                  <a:pt x="0" y="0"/>
                </a:moveTo>
                <a:lnTo>
                  <a:pt x="5949910" y="0"/>
                </a:lnTo>
                <a:lnTo>
                  <a:pt x="5949910" y="9978884"/>
                </a:lnTo>
                <a:lnTo>
                  <a:pt x="0" y="9978884"/>
                </a:lnTo>
                <a:lnTo>
                  <a:pt x="0" y="0"/>
                </a:lnTo>
                <a:close/>
              </a:path>
            </a:pathLst>
          </a:custGeom>
          <a:blipFill>
            <a:blip r:embed="rId4"/>
            <a:stretch>
              <a:fillRect l="0" t="0" r="0" b="0"/>
            </a:stretch>
          </a:blipFill>
        </p:spPr>
      </p:sp>
      <p:sp>
        <p:nvSpPr>
          <p:cNvPr name="Freeform 5" id="5"/>
          <p:cNvSpPr/>
          <p:nvPr/>
        </p:nvSpPr>
        <p:spPr>
          <a:xfrm flipH="false" flipV="false" rot="0">
            <a:off x="7051138" y="4060192"/>
            <a:ext cx="4185724" cy="4185724"/>
          </a:xfrm>
          <a:custGeom>
            <a:avLst/>
            <a:gdLst/>
            <a:ahLst/>
            <a:cxnLst/>
            <a:rect r="r" b="b" t="t" l="l"/>
            <a:pathLst>
              <a:path h="4185724" w="4185724">
                <a:moveTo>
                  <a:pt x="0" y="0"/>
                </a:moveTo>
                <a:lnTo>
                  <a:pt x="4185724" y="0"/>
                </a:lnTo>
                <a:lnTo>
                  <a:pt x="4185724" y="4185724"/>
                </a:lnTo>
                <a:lnTo>
                  <a:pt x="0" y="4185724"/>
                </a:lnTo>
                <a:lnTo>
                  <a:pt x="0" y="0"/>
                </a:lnTo>
                <a:close/>
              </a:path>
            </a:pathLst>
          </a:custGeom>
          <a:blipFill>
            <a:blip r:embed="rId5"/>
            <a:stretch>
              <a:fillRect l="0" t="0" r="0" b="0"/>
            </a:stretch>
          </a:blipFill>
        </p:spPr>
      </p:sp>
      <p:sp>
        <p:nvSpPr>
          <p:cNvPr name="TextBox 6" id="6"/>
          <p:cNvSpPr txBox="true"/>
          <p:nvPr/>
        </p:nvSpPr>
        <p:spPr>
          <a:xfrm rot="0">
            <a:off x="3899128" y="1970984"/>
            <a:ext cx="10489743" cy="1639851"/>
          </a:xfrm>
          <a:prstGeom prst="rect">
            <a:avLst/>
          </a:prstGeom>
        </p:spPr>
        <p:txBody>
          <a:bodyPr anchor="t" rtlCol="false" tIns="0" lIns="0" bIns="0" rIns="0">
            <a:spAutoFit/>
          </a:bodyPr>
          <a:lstStyle/>
          <a:p>
            <a:pPr algn="ctr">
              <a:lnSpc>
                <a:spcPts val="13480"/>
              </a:lnSpc>
              <a:spcBef>
                <a:spcPct val="0"/>
              </a:spcBef>
            </a:pPr>
            <a:r>
              <a:rPr lang="en-US" sz="9628">
                <a:solidFill>
                  <a:srgbClr val="FFFFFF"/>
                </a:solidFill>
                <a:latin typeface="Intro Rust"/>
                <a:ea typeface="Intro Rust"/>
                <a:cs typeface="Intro Rust"/>
                <a:sym typeface="Intro Rust"/>
              </a:rPr>
              <a:t>Terima Kasih</a:t>
            </a:r>
          </a:p>
        </p:txBody>
      </p:sp>
    </p:spTree>
  </p:cSld>
  <p:clrMapOvr>
    <a:masterClrMapping/>
  </p:clrMapOvr>
  <p:transition spd="slow">
    <p:circl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DAHY7z1lvRs</dc:identifier>
  <dcterms:modified xsi:type="dcterms:W3CDTF">2011-08-01T06:04:30Z</dcterms:modified>
  <cp:revision>1</cp:revision>
  <dc:title>BIG DATA</dc:title>
</cp:coreProperties>
</file>